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56" r:id="rId2"/>
    <p:sldId id="598" r:id="rId3"/>
    <p:sldId id="603" r:id="rId4"/>
    <p:sldId id="595" r:id="rId5"/>
    <p:sldId id="584" r:id="rId6"/>
    <p:sldId id="596" r:id="rId7"/>
    <p:sldId id="597" r:id="rId8"/>
    <p:sldId id="599" r:id="rId9"/>
    <p:sldId id="600" r:id="rId10"/>
    <p:sldId id="601" r:id="rId11"/>
    <p:sldId id="602" r:id="rId12"/>
    <p:sldId id="604" r:id="rId13"/>
    <p:sldId id="608" r:id="rId14"/>
    <p:sldId id="605" r:id="rId15"/>
    <p:sldId id="609" r:id="rId16"/>
    <p:sldId id="606" r:id="rId17"/>
    <p:sldId id="607" r:id="rId18"/>
    <p:sldId id="610" r:id="rId19"/>
    <p:sldId id="611" r:id="rId20"/>
    <p:sldId id="613" r:id="rId21"/>
    <p:sldId id="612" r:id="rId22"/>
    <p:sldId id="614" r:id="rId23"/>
    <p:sldId id="615" r:id="rId24"/>
    <p:sldId id="616" r:id="rId25"/>
    <p:sldId id="617" r:id="rId26"/>
    <p:sldId id="618" r:id="rId27"/>
    <p:sldId id="620" r:id="rId28"/>
    <p:sldId id="619" r:id="rId29"/>
    <p:sldId id="621" r:id="rId30"/>
    <p:sldId id="622" r:id="rId31"/>
    <p:sldId id="623" r:id="rId32"/>
    <p:sldId id="624" r:id="rId33"/>
    <p:sldId id="625" r:id="rId34"/>
    <p:sldId id="626" r:id="rId35"/>
    <p:sldId id="627" r:id="rId36"/>
    <p:sldId id="628" r:id="rId37"/>
    <p:sldId id="629" r:id="rId3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57" autoAdjust="0"/>
    <p:restoredTop sz="87573" autoAdjust="0"/>
  </p:normalViewPr>
  <p:slideViewPr>
    <p:cSldViewPr>
      <p:cViewPr varScale="1">
        <p:scale>
          <a:sx n="72" d="100"/>
          <a:sy n="72" d="100"/>
        </p:scale>
        <p:origin x="1402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5A70-5908-4F26-95C5-87BC94421A41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23B4-6375-64DD-C297-84BFF574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143FE9E-23D3-2A93-7BC7-FD3FCB0C7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CA4D54B-5425-90D4-5B8B-018B6995F8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5D35-F401-220C-634F-ED5912FA8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5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E28A-D034-9F90-E48F-8E3BBFF4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43D3264-EC47-A689-3193-71D5009C21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7CDF3C2-F8B7-5EA7-34E3-62BCE68D07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76B8-D884-2220-DD48-5B24E6FC6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2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4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27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5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58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489C-5B6D-8451-7037-AD33EAAF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D644F20-4C77-9807-0B96-62CBB6F717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880DD34-D0F8-C737-D206-447F645CAF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6226-97D7-BBF5-7C0A-C30EAE2B2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6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26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BE895-7BB3-72DB-DEBA-04D5D7D6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C1493EA-C1C3-D64F-2B70-40346CAE3E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10CFFBB3-42EC-CEFB-0B99-0AAFF05D11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56B14-657F-5756-7B44-7514903D9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7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47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6943-3C13-B576-554D-5C8B2316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9AF60AF-2888-7364-524D-6BC21F20AA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BFBF47A-3597-EA8D-619C-E585AD3FD5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F03B6-85CE-E3B4-5AE8-49504C065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18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A1FE-04CF-06A5-5CC0-59E548B8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C273B54-3FAC-E846-45ED-2A3DECC6FC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237BF86-6F1C-0CD5-9817-B625D84A74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4765A-53F7-CABD-8CEC-D20C4F172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330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701F-8D1C-E4E5-A555-E21CBA18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75E7FBB-A5D1-DCA3-3A9C-BF841371DD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E1A7C84-9661-A875-C355-C7018DE69B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9F01-9D32-B21F-18B0-25BCB8981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908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1E79-3B46-5A6D-30FC-BB6B624C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57798E6-7962-724D-42AB-0C53150C58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B7299CF-CCDF-E111-2661-927E9D4E1F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8FD36-E7FD-2FCC-A5D3-543042FAD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077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0704-7F6B-2041-0077-E22A31A2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E86B26D-3A3B-A58B-FF1D-53CD0A3787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9F20842-C068-EB64-06E9-47A60A3817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131F9-1827-4A0F-1086-461D1984D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679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A019-DA0D-934A-DE6D-70C23FA8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E92C93F-0882-E70F-1263-33B4B852FA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46D2B21-4F22-31A4-FC85-472E155AEB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0CA37-6B5A-BC2E-5B80-B7BA54583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92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2699F-B12E-95C1-D900-4B860177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D86573E-23E5-6541-14C5-F32A6E4C5B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6FDBDFB-AA32-2AE7-C3D8-D03076D294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4AFC2-D656-BD49-30A6-7D160FF98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14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601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4C63-7D26-33EE-121D-BC0143AE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BE556BF-3AC8-5F66-37A5-BF1FAB7CBA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1A55027-52EE-3055-DED9-E948CB69E6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A82B8-83C1-3C0D-3EFF-D8FCC89BA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891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7C5C-5E0A-EFCF-3779-E172A226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21C46D8-C70C-7994-6D4B-B8789E4856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2889507B-A3CB-115F-79A8-D3F47A80D4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814A6-9293-DD42-B05B-B62616060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199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99D5-3522-52DA-82B5-664932A9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BF88512-2E9D-88D9-A958-3830313735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E008CD08-3617-E78B-7D50-D554031984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C6175-833C-ABE5-4516-2C145D89F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949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83BD-B2FE-D875-606A-E965B972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31F2245-279E-DAA4-8FB1-B93F789C5B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B6D6897-80D7-9AC5-3553-F89DED232D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0894E-43D3-B786-F765-CFA71517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18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094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114A-9D88-6490-D753-77C19EB7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4A3BDFE-2FFB-C17F-099E-84D76B528A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1054524-0BD8-A9EC-6F98-C7B27DD811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8AA63-D2AE-B507-5E3A-47D94D99E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50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1B37-B8D9-8932-9769-321282AE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76FFE0D-8F23-CAFF-0301-830642A4DF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EB38708-C376-D189-30C8-FC57DA4504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C5B44-5EC3-82CE-BAAD-2A8A00D58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146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B7EB-CA3D-31A9-7AE0-1A09627B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D7072DA-B27A-C3A5-7D72-B1B72BABC3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E492A90B-F8C9-ADC8-7EF8-ED22A405D2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33770-D074-5B43-5FF7-BA6A0F49E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701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1AC0-928C-BA72-661C-8E29C31F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015CFD2-9C8B-8DE5-3B7C-632D8D6FC5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20585F3-E4DA-91DA-E794-96F4F55FE7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CB940-9B8A-771C-2999-D18951C33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44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6FAA-30B9-D062-3237-CC9CE23A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9AABE2C-0D00-5176-DB6D-D25D7DE3CB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9B2F571-D680-9E51-43EB-F21287C0E7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43B88-E0F0-2D5D-788E-3263C7CA7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23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99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4E0F5-9B22-312B-D920-3AABDA49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984A941-FC09-99FC-0824-59589A27A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184013B-43B5-0597-AFF8-AD08E54321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CCD9A-DB46-6EB8-C3FE-73340F741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2814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D2F29-18E0-29BE-6016-3EBDF24EC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2081614-ED0C-488F-5693-FB0C795B1E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ADE0936-68DC-B214-DE98-0F3BF4C490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42259-2D2E-1306-EC8E-2B2503F8E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858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0FA06-032F-ACE3-A867-5A1E269D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E3CD544-79D3-FEA5-B413-F50CFBF641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0D3DA30-922A-F1D6-835A-772EB32A04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E3F18-F2E7-FB8B-CEC8-C645ABB56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26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186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E71E-126D-7296-443F-FE905B2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96AC80C-7051-C29D-EDD4-3E432D7F47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6C0C17E-DD13-C2DD-9896-A5CBBBB098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5E365-6A72-3CA7-BF9D-F7C8F88BC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27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6987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F4F0-9E2A-373F-0EEF-5511E78B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6A0697C-127B-F8AF-2EEA-B0F892A54B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F129293-03CA-7C4E-518D-A9D968601B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15672-D1D2-6520-5050-2CA8F949B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4564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F69F4-F09F-1FFD-11FC-A358A36E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F30C31D-9F06-CDC1-5BF0-B4CAEF2C8A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0251119-9E90-60EE-8BDB-82440127B1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A58A4-FCE4-D2C0-3914-8CD982C85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8784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F0F8-B9B3-E4A5-EDB4-911C9805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8B08B89-7B6A-E875-3570-755FCEAB53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4D8BD80-9839-9084-EB3A-86ECB41DF0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7611B-79F9-8EAF-2B29-854CE09F7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43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FFDF2-EB57-9434-B9C4-0107E393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AF4FEBE-5215-BCD0-F14B-95888EDF0A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52E483D-CFB5-68B2-FC9A-EDC7961727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A5E0-020A-FCF7-37D1-FF47D3FF4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032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01B8-4117-54A7-E543-14D87482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55FFB0E-8A45-F13A-7A22-98CB2FABF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D2F2E27-F6AA-CB62-6104-FDEA12B1D3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BD101-577B-B856-E475-9C94CE11D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576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2518-ADC2-2FB8-B49E-8721D336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2FCD8E3-E4FC-C839-5259-F143F32D90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A3C6C11-8CB0-635A-F793-6D75052F5A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4F5E9-2B64-7EC8-5E5E-10EA42BEB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897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ADF06-95DA-0A20-C494-4D1CED4D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2A08628-B841-E887-851B-CA55F95B89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4712930-1F23-170D-4124-AA8BE24DB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A9AA9-88A9-AE27-7997-2C81A96AC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3841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8E13-1593-F474-CCFF-19631F1C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E8376FD-4D44-8D7F-2FFC-D63D625EC9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3CA2CFC-8071-5B80-137D-B2501BCDD6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501D-0510-5830-64F5-CAECA59F2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5255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880A-7F41-0562-F150-9E457DCD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D8B0F9E-8014-65F6-8E9D-D1633C20A3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2D204E1-B4AF-1366-795C-6F33C51CC3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5314-232F-E91F-1E6C-124010AB1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6764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14FA-24AA-769E-FE8F-7D573C77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B4B3860-8A09-8CFA-778C-E843379CE9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B47C620-BD26-AF84-306A-64CB649162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71E81-88A8-375A-8CBC-F53C0FDAA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23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10/18/2024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10/18/2024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System Semiconductor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C00000"/>
                </a:solidFill>
              </a:rPr>
              <a:t>HW</a:t>
            </a:r>
            <a:r>
              <a:rPr lang="ko-KR" altLang="en-US" sz="3600" b="1" dirty="0">
                <a:solidFill>
                  <a:srgbClr val="C00000"/>
                </a:solidFill>
              </a:rPr>
              <a:t> </a:t>
            </a:r>
            <a:r>
              <a:rPr lang="en-US" altLang="ko-KR" sz="3600" b="1" dirty="0">
                <a:solidFill>
                  <a:srgbClr val="C00000"/>
                </a:solidFill>
              </a:rPr>
              <a:t>PPT</a:t>
            </a:r>
            <a:r>
              <a:rPr lang="ko-KR" altLang="en-US" sz="3600" b="1" dirty="0">
                <a:solidFill>
                  <a:srgbClr val="C00000"/>
                </a:solidFill>
              </a:rPr>
              <a:t> </a:t>
            </a:r>
            <a:endParaRPr lang="en-US" altLang="ko-KR" sz="3600" b="1" dirty="0">
              <a:solidFill>
                <a:srgbClr val="C00000"/>
              </a:solidFill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625600" y="3810000"/>
            <a:ext cx="9144000" cy="990600"/>
          </a:xfrm>
        </p:spPr>
        <p:txBody>
          <a:bodyPr>
            <a:noAutofit/>
          </a:bodyPr>
          <a:lstStyle/>
          <a:p>
            <a:r>
              <a:rPr lang="en-US" altLang="ko-KR" sz="2000" dirty="0" err="1"/>
              <a:t>Jungwoo</a:t>
            </a:r>
            <a:r>
              <a:rPr lang="en-US" altLang="ko-KR" sz="2000" dirty="0"/>
              <a:t> choi</a:t>
            </a:r>
            <a:br>
              <a:rPr lang="en-US" altLang="ko-KR" sz="2000" dirty="0"/>
            </a:br>
            <a:r>
              <a:rPr lang="en-US" altLang="ko-KR" sz="2000" dirty="0" err="1"/>
              <a:t>Sangmyung</a:t>
            </a:r>
            <a:r>
              <a:rPr lang="en-US" altLang="ko-KR" sz="2000" dirty="0"/>
              <a:t> University</a:t>
            </a:r>
            <a:br>
              <a:rPr lang="en-US" altLang="ko-KR" sz="2000" dirty="0"/>
            </a:br>
            <a:r>
              <a:rPr lang="en-US" altLang="ko-KR" sz="2000" dirty="0"/>
              <a:t>jw010803@gmail.com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6A10-F4BF-C094-CAF8-3736F8EF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1057BFF-E109-7F0C-4059-F90BCC7C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1DBAFE4-264E-D521-7474-0652C5C353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01.32bit_adder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B962A763-AE68-C25D-47C4-E75DB257F32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5C9C5C-656C-D73A-1630-749C6AE8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7A99F-A61D-B2DB-462D-431D00373EF9}"/>
              </a:ext>
            </a:extLst>
          </p:cNvPr>
          <p:cNvSpPr txBox="1"/>
          <p:nvPr/>
        </p:nvSpPr>
        <p:spPr>
          <a:xfrm>
            <a:off x="838200" y="1702227"/>
            <a:ext cx="6400800" cy="39857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module cla_32bit(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a,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b,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ci,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sum,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input [31:0] a, b;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input ci;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output [31:0] sum;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output c;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wire [3:0]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cla_8bit CLA_8bit_01 (a[7:0],   b[7:0],   ci,   sum[7:0],  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[0]);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cla_8bit CLA_8bit_02 (a[15:8],  b[15:8],  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[0], sum[15:8],  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[1]);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cla_8bit CLA_8bit_03 (a[23:16], b[23:16],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[1], sum[23:16],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[2]);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cla_8bit CLA_8bit_04 (a[31:24], b[31:24],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w_carry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[2], sum[31:24], c);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0A40F-4FF9-FE27-6BD2-28779C5607B2}"/>
              </a:ext>
            </a:extLst>
          </p:cNvPr>
          <p:cNvSpPr txBox="1"/>
          <p:nvPr/>
        </p:nvSpPr>
        <p:spPr>
          <a:xfrm>
            <a:off x="1981200" y="586137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487A2-1FBF-4E92-E09C-273287B932F0}"/>
              </a:ext>
            </a:extLst>
          </p:cNvPr>
          <p:cNvSpPr txBox="1"/>
          <p:nvPr/>
        </p:nvSpPr>
        <p:spPr>
          <a:xfrm>
            <a:off x="7620000" y="2629298"/>
            <a:ext cx="4191000" cy="195438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100" dirty="0">
                <a:latin typeface="Consolas" panose="020B0609020204030204" pitchFamily="49" charset="0"/>
              </a:rPr>
              <a:t>bit </a:t>
            </a:r>
            <a:r>
              <a:rPr lang="ko-KR" altLang="en-US" sz="1100" dirty="0">
                <a:latin typeface="Consolas" panose="020B0609020204030204" pitchFamily="49" charset="0"/>
              </a:rPr>
              <a:t>캐리 예측 가산기 이다</a:t>
            </a:r>
            <a:r>
              <a:rPr lang="en-US" altLang="ko-KR" sz="1100" dirty="0">
                <a:latin typeface="Consolas" panose="020B0609020204030204" pitchFamily="49" charset="0"/>
              </a:rPr>
              <a:t>. Ci </a:t>
            </a:r>
            <a:r>
              <a:rPr lang="ko-KR" altLang="en-US" sz="1100" dirty="0">
                <a:latin typeface="Consolas" panose="020B0609020204030204" pitchFamily="49" charset="0"/>
              </a:rPr>
              <a:t>가 캐리이고 </a:t>
            </a:r>
            <a:r>
              <a:rPr lang="en-US" altLang="ko-KR" sz="1100" dirty="0">
                <a:latin typeface="Consolas" panose="020B0609020204030204" pitchFamily="49" charset="0"/>
              </a:rPr>
              <a:t>w</a:t>
            </a:r>
            <a:r>
              <a:rPr lang="ko-KR" altLang="en-US" sz="1100" dirty="0">
                <a:latin typeface="Consolas" panose="020B0609020204030204" pitchFamily="49" charset="0"/>
              </a:rPr>
              <a:t> 캐리를  저장하는 배열이다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이 가산기는 </a:t>
            </a:r>
            <a:r>
              <a:rPr lang="en-US" altLang="ko-KR" sz="1100" dirty="0">
                <a:latin typeface="Consolas" panose="020B0609020204030204" pitchFamily="49" charset="0"/>
              </a:rPr>
              <a:t>8bit </a:t>
            </a:r>
            <a:r>
              <a:rPr lang="ko-KR" altLang="en-US" sz="1100" dirty="0">
                <a:latin typeface="Consolas" panose="020B0609020204030204" pitchFamily="49" charset="0"/>
              </a:rPr>
              <a:t>가산기로 </a:t>
            </a:r>
            <a:r>
              <a:rPr lang="en-US" altLang="ko-KR" sz="1100" dirty="0">
                <a:latin typeface="Consolas" panose="020B0609020204030204" pitchFamily="49" charset="0"/>
              </a:rPr>
              <a:t>4</a:t>
            </a:r>
            <a:r>
              <a:rPr lang="ko-KR" altLang="en-US" sz="1100" dirty="0">
                <a:latin typeface="Consolas" panose="020B0609020204030204" pitchFamily="49" charset="0"/>
              </a:rPr>
              <a:t>개로 구성 되어있으며</a:t>
            </a:r>
            <a:r>
              <a:rPr lang="en-US" altLang="ko-KR" sz="1100" dirty="0">
                <a:latin typeface="Consolas" panose="020B0609020204030204" pitchFamily="49" charset="0"/>
              </a:rPr>
              <a:t>, 8bit </a:t>
            </a:r>
            <a:r>
              <a:rPr lang="ko-KR" altLang="en-US" sz="1100" dirty="0">
                <a:latin typeface="Consolas" panose="020B0609020204030204" pitchFamily="49" charset="0"/>
              </a:rPr>
              <a:t>가산기는 </a:t>
            </a:r>
            <a:r>
              <a:rPr lang="en-US" altLang="ko-KR" sz="1100" dirty="0">
                <a:latin typeface="Consolas" panose="020B0609020204030204" pitchFamily="49" charset="0"/>
              </a:rPr>
              <a:t>8</a:t>
            </a:r>
            <a:r>
              <a:rPr lang="ko-KR" altLang="en-US" sz="1100" dirty="0">
                <a:latin typeface="Consolas" panose="020B0609020204030204" pitchFamily="49" charset="0"/>
              </a:rPr>
              <a:t>개의 </a:t>
            </a:r>
            <a:r>
              <a:rPr lang="en-US" altLang="ko-KR" sz="1100" dirty="0" err="1">
                <a:latin typeface="Consolas" panose="020B0609020204030204" pitchFamily="49" charset="0"/>
              </a:rPr>
              <a:t>full_adder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로 구성 되어있다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1100" dirty="0">
                <a:latin typeface="Consolas" panose="020B0609020204030204" pitchFamily="49" charset="0"/>
              </a:rPr>
              <a:t>또한 </a:t>
            </a:r>
            <a:r>
              <a:rPr lang="en-US" altLang="ko-KR" sz="1100" dirty="0">
                <a:latin typeface="Consolas" panose="020B0609020204030204" pitchFamily="49" charset="0"/>
              </a:rPr>
              <a:t>8bit </a:t>
            </a:r>
            <a:r>
              <a:rPr lang="ko-KR" altLang="en-US" sz="1100" dirty="0">
                <a:latin typeface="Consolas" panose="020B0609020204030204" pitchFamily="49" charset="0"/>
              </a:rPr>
              <a:t>가산기 는 캐리 예측 가산기도 연결 되어있는데 캐리 예측 가산기는 각 비트를 계산해서 캐리가 발생할지 캐리가 전달될 지 미리 계산하는 가산기 이다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</a:p>
          <a:p>
            <a:r>
              <a:rPr lang="ko-KR" altLang="en-US" sz="1100" dirty="0">
                <a:latin typeface="Consolas" panose="020B0609020204030204" pitchFamily="49" charset="0"/>
              </a:rPr>
              <a:t>이 </a:t>
            </a:r>
            <a:r>
              <a:rPr lang="en-US" altLang="ko-KR" sz="1100" dirty="0">
                <a:latin typeface="Consolas" panose="020B0609020204030204" pitchFamily="49" charset="0"/>
              </a:rPr>
              <a:t>RTL</a:t>
            </a:r>
            <a:r>
              <a:rPr lang="ko-KR" altLang="en-US" sz="1100" dirty="0">
                <a:latin typeface="Consolas" panose="020B0609020204030204" pitchFamily="49" charset="0"/>
              </a:rPr>
              <a:t>코드는 처음에 </a:t>
            </a:r>
            <a:r>
              <a:rPr lang="en-US" altLang="ko-KR" sz="1100" dirty="0">
                <a:latin typeface="Consolas" panose="020B0609020204030204" pitchFamily="49" charset="0"/>
              </a:rPr>
              <a:t>8</a:t>
            </a:r>
            <a:r>
              <a:rPr lang="ko-KR" altLang="en-US" sz="1100" dirty="0">
                <a:latin typeface="Consolas" panose="020B0609020204030204" pitchFamily="49" charset="0"/>
              </a:rPr>
              <a:t>비트 가산기를 이용해서 </a:t>
            </a:r>
            <a:r>
              <a:rPr lang="en-US" altLang="ko-KR" sz="1100" dirty="0">
                <a:latin typeface="Consolas" panose="020B0609020204030204" pitchFamily="49" charset="0"/>
              </a:rPr>
              <a:t>[7:0] </a:t>
            </a:r>
            <a:r>
              <a:rPr lang="ko-KR" altLang="en-US" sz="1100" dirty="0">
                <a:latin typeface="Consolas" panose="020B0609020204030204" pitchFamily="49" charset="0"/>
              </a:rPr>
              <a:t>비트 까지의 연산 결과와 캐리를 구하고 구한 결과들을 다음 </a:t>
            </a:r>
            <a:r>
              <a:rPr lang="en-US" altLang="ko-KR" sz="1100" dirty="0">
                <a:latin typeface="Consolas" panose="020B0609020204030204" pitchFamily="49" charset="0"/>
              </a:rPr>
              <a:t>8</a:t>
            </a:r>
            <a:r>
              <a:rPr lang="ko-KR" altLang="en-US" sz="1100" dirty="0">
                <a:latin typeface="Consolas" panose="020B0609020204030204" pitchFamily="49" charset="0"/>
              </a:rPr>
              <a:t>비트 가산기에 넘겨준다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넘겨받은 결과를 이용해 다시 연산하여 결과를 구하는 방식으로 </a:t>
            </a:r>
            <a:r>
              <a:rPr lang="ko-KR" altLang="en-US" sz="1100" dirty="0" err="1">
                <a:latin typeface="Consolas" panose="020B0609020204030204" pitchFamily="49" charset="0"/>
              </a:rPr>
              <a:t>구성되있다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BB496-E3D7-0DE1-C377-6B57B719F36F}"/>
              </a:ext>
            </a:extLst>
          </p:cNvPr>
          <p:cNvSpPr txBox="1"/>
          <p:nvPr/>
        </p:nvSpPr>
        <p:spPr>
          <a:xfrm>
            <a:off x="6781800" y="58244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Comment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8936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C51B-EFB4-4813-8054-DAAD503B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17D02DC-DDE2-58C3-734F-9C4EA540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B3607AE2-EEB4-D6C3-9D16-6AB8410DC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01.32bit_adder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F7232C5A-8487-3A1C-6AE4-D777246B0942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523CCD-9130-2D84-8C9E-592D9B7C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0E4B0-3C99-4E54-C9D5-6D8CEF6430E8}"/>
              </a:ext>
            </a:extLst>
          </p:cNvPr>
          <p:cNvSpPr txBox="1"/>
          <p:nvPr/>
        </p:nvSpPr>
        <p:spPr>
          <a:xfrm>
            <a:off x="838200" y="1702227"/>
            <a:ext cx="6400800" cy="36471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module testbench;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reg [31:0] a, b;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reg ci;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wire [31:0] sum;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wire c;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cla_32bit u_32bit_adder(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.a(a),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.b(b),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.ci(ci),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.sum(sum),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.c(c)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);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testbench.fsdb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FA47E-D18C-B8EB-0DFC-318EBAB5F472}"/>
              </a:ext>
            </a:extLst>
          </p:cNvPr>
          <p:cNvSpPr txBox="1"/>
          <p:nvPr/>
        </p:nvSpPr>
        <p:spPr>
          <a:xfrm>
            <a:off x="1981200" y="586137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Testbench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1CC92-ECF4-8F74-1148-33510C909F00}"/>
              </a:ext>
            </a:extLst>
          </p:cNvPr>
          <p:cNvSpPr txBox="1"/>
          <p:nvPr/>
        </p:nvSpPr>
        <p:spPr>
          <a:xfrm>
            <a:off x="7620000" y="3225721"/>
            <a:ext cx="4191000" cy="6001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Timescale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1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ns/100ps 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로 설정하였다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Cla_32bit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모듈을 인스턴스 해주었다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이 신호가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fsdb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파일에 </a:t>
            </a:r>
            <a:r>
              <a:rPr lang="ko-KR" altLang="en-US" sz="1100" dirty="0" err="1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저장될수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있게 하였다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7FC3F-3B1B-0C73-B4C9-F6C682373C37}"/>
              </a:ext>
            </a:extLst>
          </p:cNvPr>
          <p:cNvSpPr txBox="1"/>
          <p:nvPr/>
        </p:nvSpPr>
        <p:spPr>
          <a:xfrm>
            <a:off x="6781800" y="58244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36202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01.32bit_adder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4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2819400" y="2133600"/>
            <a:ext cx="7162800" cy="28931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32'd1 ; b = 32'hFFFFFFFF; ci = 1'd1;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32'd1234 ; b = 32'd1234; ci = 1'd0;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32'hFADECBAA; b = 32'hADCBEBAA; ci = 1'd1;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32'hF000000F ; b = 32'h0FFFFFF0; ci = 1'd1;</a:t>
            </a:r>
          </a:p>
          <a:p>
            <a:br>
              <a:rPr lang="en-US" altLang="ko-KR" sz="1400" b="0" dirty="0"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32'h0F0F0F0F; b = 32'hF0F0F0F0; ci = 1'b1;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32'h0F0F0F0F; b = 32'hF0F0F0F0; ci = 1'b0;</a:t>
            </a:r>
          </a:p>
          <a:p>
            <a:br>
              <a:rPr lang="en-US" altLang="ko-KR" sz="1400" b="0" dirty="0"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32'd0 ; b = 32'd0; ci = 1'd0;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32'd0 ; b = 32'd0; ci = 1'd1;</a:t>
            </a:r>
          </a:p>
          <a:p>
            <a:br>
              <a:rPr lang="en-US" altLang="ko-KR" sz="1400" b="0" dirty="0"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32'hFFFFFFFF ; b = 32'hFFFFFFFF; ci = 1'd0;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32'hFFFF0000 ; b = 32'h0000FFFF; ci = 1'd0;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4343400" y="570265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Testbench factor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73765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01.32bit_adder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5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AA15BF-D2AE-A3B6-9BB7-463A180A9B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94" r="30794"/>
          <a:stretch/>
        </p:blipFill>
        <p:spPr>
          <a:xfrm>
            <a:off x="648172" y="2938494"/>
            <a:ext cx="5620583" cy="14404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A231C-AEE7-41F0-A3DD-10882D71A5F9}"/>
              </a:ext>
            </a:extLst>
          </p:cNvPr>
          <p:cNvSpPr txBox="1"/>
          <p:nvPr/>
        </p:nvSpPr>
        <p:spPr>
          <a:xfrm>
            <a:off x="6332727" y="2413001"/>
            <a:ext cx="5781391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Comment:</a:t>
            </a:r>
          </a:p>
          <a:p>
            <a:r>
              <a:rPr lang="ko-KR" altLang="en-US" sz="1200" dirty="0"/>
              <a:t>기존 </a:t>
            </a:r>
            <a:r>
              <a:rPr lang="ko-KR" altLang="en-US" sz="1200" dirty="0" err="1"/>
              <a:t>테스트벤치에</a:t>
            </a:r>
            <a:r>
              <a:rPr lang="ko-KR" altLang="en-US" sz="1200" dirty="0"/>
              <a:t> 존재하던 </a:t>
            </a:r>
            <a:r>
              <a:rPr lang="en-US" altLang="ko-KR" sz="1200" dirty="0" err="1"/>
              <a:t>a,b</a:t>
            </a:r>
            <a:r>
              <a:rPr lang="en-US" altLang="ko-KR" sz="1200" dirty="0"/>
              <a:t> </a:t>
            </a:r>
            <a:r>
              <a:rPr lang="ko-KR" altLang="en-US" sz="1200" dirty="0"/>
              <a:t>값을</a:t>
            </a:r>
            <a:r>
              <a:rPr lang="en-US" altLang="ko-KR" sz="1200" dirty="0"/>
              <a:t>1</a:t>
            </a:r>
            <a:r>
              <a:rPr lang="ko-KR" altLang="en-US" sz="1200" dirty="0"/>
              <a:t>과 </a:t>
            </a:r>
            <a:r>
              <a:rPr lang="en-US" altLang="ko-KR" sz="1200" dirty="0" err="1"/>
              <a:t>ffffffff</a:t>
            </a:r>
            <a:r>
              <a:rPr lang="ko-KR" altLang="en-US" sz="1200" dirty="0"/>
              <a:t>의 순서를 바꿔서 더해보았고</a:t>
            </a:r>
            <a:r>
              <a:rPr lang="en-US" altLang="ko-KR" sz="1200" dirty="0"/>
              <a:t>, </a:t>
            </a:r>
            <a:r>
              <a:rPr lang="ko-KR" altLang="en-US" sz="1200" dirty="0"/>
              <a:t>처음 </a:t>
            </a:r>
            <a:endParaRPr lang="en-US" altLang="ko-KR" sz="1200" dirty="0"/>
          </a:p>
          <a:p>
            <a:r>
              <a:rPr lang="en-US" altLang="ko-KR" sz="1200" dirty="0"/>
              <a:t>ci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로 설정하였다</a:t>
            </a:r>
            <a:r>
              <a:rPr lang="en-US" altLang="ko-KR" sz="1200" dirty="0"/>
              <a:t>. Cla32bit</a:t>
            </a:r>
            <a:r>
              <a:rPr lang="ko-KR" altLang="en-US" sz="1200" dirty="0"/>
              <a:t>는 </a:t>
            </a:r>
            <a:r>
              <a:rPr lang="en-US" altLang="ko-KR" sz="1200" dirty="0"/>
              <a:t>cla8bit </a:t>
            </a:r>
            <a:r>
              <a:rPr lang="ko-KR" altLang="en-US" sz="1200" dirty="0"/>
              <a:t>으로 이루어져 있기 때문에 가장 처음에는 </a:t>
            </a:r>
            <a:endParaRPr lang="en-US" altLang="ko-KR" sz="1200" dirty="0"/>
          </a:p>
          <a:p>
            <a:r>
              <a:rPr lang="en-US" altLang="ko-KR" sz="1200" dirty="0"/>
              <a:t>00000001 </a:t>
            </a:r>
            <a:r>
              <a:rPr lang="ko-KR" altLang="en-US" sz="1200" dirty="0"/>
              <a:t>과 </a:t>
            </a:r>
            <a:r>
              <a:rPr lang="en-US" altLang="ko-KR" sz="1200" dirty="0"/>
              <a:t>11111111 </a:t>
            </a:r>
            <a:r>
              <a:rPr lang="ko-KR" altLang="en-US" sz="1200" dirty="0"/>
              <a:t>그리고 </a:t>
            </a:r>
            <a:r>
              <a:rPr lang="en-US" altLang="ko-KR" sz="1200" dirty="0"/>
              <a:t>carry in </a:t>
            </a:r>
            <a:r>
              <a:rPr lang="ko-KR" altLang="en-US" sz="1200" dirty="0"/>
              <a:t>인 </a:t>
            </a:r>
            <a:r>
              <a:rPr lang="en-US" altLang="ko-KR" sz="1200" dirty="0"/>
              <a:t>1</a:t>
            </a:r>
            <a:r>
              <a:rPr lang="ko-KR" altLang="en-US" sz="1200" dirty="0"/>
              <a:t>의 합 연산이 이루어지게 된다</a:t>
            </a:r>
            <a:r>
              <a:rPr lang="en-US" altLang="ko-KR" sz="1200" dirty="0"/>
              <a:t>. </a:t>
            </a:r>
            <a:r>
              <a:rPr lang="ko-KR" altLang="en-US" sz="1200" dirty="0"/>
              <a:t>이를 통해</a:t>
            </a:r>
            <a:endParaRPr lang="en-US" altLang="ko-KR" sz="1200" dirty="0"/>
          </a:p>
          <a:p>
            <a:r>
              <a:rPr lang="en-US" altLang="ko-KR" sz="1200" dirty="0"/>
              <a:t>100000001 </a:t>
            </a:r>
            <a:r>
              <a:rPr lang="ko-KR" altLang="en-US" sz="1200" dirty="0"/>
              <a:t>이라는 결과가 나오게 되고</a:t>
            </a:r>
            <a:r>
              <a:rPr lang="en-US" altLang="ko-KR" sz="1200" dirty="0"/>
              <a:t> 8</a:t>
            </a:r>
            <a:r>
              <a:rPr lang="ko-KR" altLang="en-US" sz="1200" dirty="0"/>
              <a:t>비트를 초과한 값인 맨 앞의 </a:t>
            </a:r>
            <a:r>
              <a:rPr lang="en-US" altLang="ko-KR" sz="1200" dirty="0"/>
              <a:t>1</a:t>
            </a:r>
            <a:r>
              <a:rPr lang="ko-KR" altLang="en-US" sz="1200" dirty="0"/>
              <a:t>은 다음 </a:t>
            </a:r>
            <a:r>
              <a:rPr lang="en-US" altLang="ko-KR" sz="1200" dirty="0"/>
              <a:t>carry </a:t>
            </a:r>
          </a:p>
          <a:p>
            <a:r>
              <a:rPr lang="en-US" altLang="ko-KR" sz="1200" dirty="0"/>
              <a:t>In</a:t>
            </a:r>
            <a:r>
              <a:rPr lang="ko-KR" altLang="en-US" sz="1200" dirty="0"/>
              <a:t> 이 되게 된다</a:t>
            </a:r>
            <a:r>
              <a:rPr lang="en-US" altLang="ko-KR" sz="1200" dirty="0"/>
              <a:t>. </a:t>
            </a:r>
            <a:r>
              <a:rPr lang="ko-KR" altLang="en-US" sz="1200" dirty="0"/>
              <a:t> 계속 계산을 진행 하면 총 합은 </a:t>
            </a:r>
            <a:r>
              <a:rPr lang="en-US" altLang="ko-KR" sz="1200" dirty="0"/>
              <a:t>00000001 </a:t>
            </a:r>
            <a:r>
              <a:rPr lang="ko-KR" altLang="en-US" sz="1200" dirty="0"/>
              <a:t>이 나오게 되고</a:t>
            </a:r>
            <a:r>
              <a:rPr lang="en-US" altLang="ko-KR" sz="1200" dirty="0"/>
              <a:t> </a:t>
            </a:r>
            <a:r>
              <a:rPr lang="ko-KR" altLang="en-US" sz="1200" dirty="0"/>
              <a:t>최종 캐리</a:t>
            </a:r>
            <a:endParaRPr lang="en-US" altLang="ko-KR" sz="1200" dirty="0"/>
          </a:p>
          <a:p>
            <a:r>
              <a:rPr lang="ko-KR" altLang="en-US" sz="1200" dirty="0"/>
              <a:t>아웃은 </a:t>
            </a:r>
            <a:r>
              <a:rPr lang="en-US" altLang="ko-KR" sz="1200" dirty="0"/>
              <a:t>1 </a:t>
            </a:r>
            <a:r>
              <a:rPr lang="ko-KR" altLang="en-US" sz="1200" dirty="0"/>
              <a:t>이 나온다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다음 두 </a:t>
            </a:r>
            <a:r>
              <a:rPr lang="en-US" altLang="ko-KR" sz="1200" dirty="0"/>
              <a:t>factor 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랜덤한</a:t>
            </a:r>
            <a:r>
              <a:rPr lang="ko-KR" altLang="en-US" sz="1200" dirty="0"/>
              <a:t> </a:t>
            </a:r>
            <a:r>
              <a:rPr lang="en-US" altLang="ko-KR" sz="1200" dirty="0"/>
              <a:t>10</a:t>
            </a:r>
            <a:r>
              <a:rPr lang="ko-KR" altLang="en-US" sz="1200" dirty="0"/>
              <a:t>진수 </a:t>
            </a:r>
            <a:r>
              <a:rPr lang="en-US" altLang="ko-KR" sz="1200" dirty="0"/>
              <a:t>, 16</a:t>
            </a:r>
            <a:r>
              <a:rPr lang="ko-KR" altLang="en-US" sz="1200" dirty="0"/>
              <a:t>진수끼리 더하도록 만들었다</a:t>
            </a:r>
            <a:endParaRPr lang="en-US" altLang="ko-KR" sz="1200" dirty="0"/>
          </a:p>
          <a:p>
            <a:r>
              <a:rPr lang="ko-KR" altLang="en-US" sz="1200" dirty="0"/>
              <a:t>첫번째 </a:t>
            </a:r>
            <a:r>
              <a:rPr lang="en-US" altLang="ko-KR" sz="1200" dirty="0"/>
              <a:t>facto</a:t>
            </a:r>
            <a:r>
              <a:rPr lang="ko-KR" altLang="en-US" sz="1200" dirty="0"/>
              <a:t>는 </a:t>
            </a:r>
            <a:r>
              <a:rPr lang="en-US" altLang="ko-KR" sz="1200" dirty="0"/>
              <a:t>10</a:t>
            </a:r>
            <a:r>
              <a:rPr lang="ko-KR" altLang="en-US" sz="1200" dirty="0"/>
              <a:t>진수 </a:t>
            </a:r>
            <a:r>
              <a:rPr lang="en-US" altLang="ko-KR" sz="1200" dirty="0"/>
              <a:t>1234</a:t>
            </a:r>
            <a:r>
              <a:rPr lang="ko-KR" altLang="en-US" sz="1200" dirty="0"/>
              <a:t>를 두개 더하는 연산을 수행하도록 하였고 결과인 </a:t>
            </a:r>
            <a:r>
              <a:rPr lang="en-US" altLang="ko-KR" sz="1200" dirty="0"/>
              <a:t>2468</a:t>
            </a:r>
          </a:p>
          <a:p>
            <a:r>
              <a:rPr lang="ko-KR" altLang="en-US" sz="1200" dirty="0"/>
              <a:t>은 </a:t>
            </a:r>
            <a:r>
              <a:rPr lang="en-US" altLang="ko-KR" sz="1200" dirty="0"/>
              <a:t>16</a:t>
            </a:r>
            <a:r>
              <a:rPr lang="ko-KR" altLang="en-US" sz="1200" dirty="0"/>
              <a:t>진수로 변환하면 </a:t>
            </a:r>
            <a:r>
              <a:rPr lang="en-US" altLang="ko-KR" sz="1200" dirty="0"/>
              <a:t>9a4 </a:t>
            </a:r>
            <a:r>
              <a:rPr lang="ko-KR" altLang="en-US" sz="1200" dirty="0"/>
              <a:t>가 나오니 합이 제대로 나왔다고 볼 </a:t>
            </a:r>
            <a:r>
              <a:rPr lang="ko-KR" altLang="en-US" sz="1200" dirty="0" err="1"/>
              <a:t>수있다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 err="1"/>
              <a:t>두번쨰</a:t>
            </a:r>
            <a:r>
              <a:rPr lang="ko-KR" altLang="en-US" sz="1200" dirty="0"/>
              <a:t> </a:t>
            </a:r>
            <a:r>
              <a:rPr lang="en-US" altLang="ko-KR" sz="1200" dirty="0"/>
              <a:t>factor</a:t>
            </a:r>
            <a:r>
              <a:rPr lang="ko-KR" altLang="en-US" sz="1200" dirty="0"/>
              <a:t>인 </a:t>
            </a:r>
            <a:r>
              <a:rPr lang="en-US" altLang="ko-KR" sz="1200" dirty="0" err="1"/>
              <a:t>fade_cbaa</a:t>
            </a:r>
            <a:r>
              <a:rPr lang="en-US" altLang="ko-KR" sz="1200" dirty="0"/>
              <a:t> 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adcb_ebaa</a:t>
            </a:r>
            <a:r>
              <a:rPr lang="en-US" altLang="ko-KR" sz="1200" dirty="0"/>
              <a:t> </a:t>
            </a:r>
            <a:r>
              <a:rPr lang="ko-KR" altLang="en-US" sz="1200" dirty="0"/>
              <a:t>는 </a:t>
            </a:r>
            <a:r>
              <a:rPr lang="en-US" altLang="ko-KR" sz="1200" dirty="0"/>
              <a:t>ci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로 설정하여 계산을 진행하였다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00643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67EB-2CA9-259B-4BD1-A82863F7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5A921C6-4F0B-F7C3-10CD-34F968A0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F1EA87FC-8754-D86D-CAE7-987409F7060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01.32bit_adder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6EFFC02-B70A-10E8-B5DE-B582D4F1F632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479ACB-854E-1E73-AD42-CF886AD9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6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9606B-5327-0C84-DBBE-A16BDE6D97E8}"/>
              </a:ext>
            </a:extLst>
          </p:cNvPr>
          <p:cNvSpPr txBox="1"/>
          <p:nvPr/>
        </p:nvSpPr>
        <p:spPr>
          <a:xfrm>
            <a:off x="6332727" y="2689999"/>
            <a:ext cx="608051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Comment:</a:t>
            </a:r>
          </a:p>
          <a:p>
            <a:r>
              <a:rPr lang="en-US" altLang="ko-KR" sz="1200" dirty="0"/>
              <a:t>4</a:t>
            </a:r>
            <a:r>
              <a:rPr lang="ko-KR" altLang="en-US" sz="1200" dirty="0"/>
              <a:t>번째 </a:t>
            </a:r>
            <a:r>
              <a:rPr lang="en-US" altLang="ko-KR" sz="1200" dirty="0"/>
              <a:t>factor </a:t>
            </a:r>
            <a:r>
              <a:rPr lang="ko-KR" altLang="en-US" sz="1200" dirty="0"/>
              <a:t>에서는 처음으로 </a:t>
            </a:r>
            <a:r>
              <a:rPr lang="en-US" altLang="ko-KR" sz="1200" dirty="0"/>
              <a:t>0f </a:t>
            </a:r>
            <a:r>
              <a:rPr lang="ko-KR" altLang="en-US" sz="1200" dirty="0"/>
              <a:t>와 </a:t>
            </a:r>
            <a:r>
              <a:rPr lang="en-US" altLang="ko-KR" sz="1200" dirty="0"/>
              <a:t>f0 </a:t>
            </a:r>
            <a:r>
              <a:rPr lang="ko-KR" altLang="en-US" sz="1200" dirty="0"/>
              <a:t>과</a:t>
            </a:r>
            <a:r>
              <a:rPr lang="en-US" altLang="ko-KR" sz="1200" dirty="0"/>
              <a:t>1 </a:t>
            </a:r>
            <a:r>
              <a:rPr lang="ko-KR" altLang="en-US" sz="1200" dirty="0"/>
              <a:t>의 합을 계산하게 되는데 이때 결과값은</a:t>
            </a:r>
            <a:endParaRPr lang="en-US" altLang="ko-KR" sz="1200" dirty="0"/>
          </a:p>
          <a:p>
            <a:r>
              <a:rPr lang="en-US" altLang="ko-KR" sz="1200" dirty="0"/>
              <a:t>100000000</a:t>
            </a:r>
            <a:r>
              <a:rPr lang="ko-KR" altLang="en-US" sz="1200" dirty="0"/>
              <a:t>이 나오게 되고 </a:t>
            </a:r>
            <a:r>
              <a:rPr lang="ko-KR" altLang="en-US" sz="1200" dirty="0" err="1"/>
              <a:t>맨앞의</a:t>
            </a:r>
            <a:r>
              <a:rPr lang="ko-KR" altLang="en-US" sz="1200" dirty="0"/>
              <a:t> 비트는 </a:t>
            </a:r>
            <a:r>
              <a:rPr lang="en-US" altLang="ko-KR" sz="1200" dirty="0"/>
              <a:t>8</a:t>
            </a:r>
            <a:r>
              <a:rPr lang="ko-KR" altLang="en-US" sz="1200" dirty="0"/>
              <a:t>비트를 초과하니 다음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연산할때</a:t>
            </a:r>
            <a:r>
              <a:rPr lang="ko-KR" altLang="en-US" sz="1200" dirty="0"/>
              <a:t> 필요한 </a:t>
            </a:r>
            <a:endParaRPr lang="en-US" altLang="ko-KR" sz="1200" dirty="0"/>
          </a:p>
          <a:p>
            <a:r>
              <a:rPr lang="en-US" altLang="ko-KR" sz="1200" dirty="0"/>
              <a:t>Carry</a:t>
            </a:r>
            <a:r>
              <a:rPr lang="ko-KR" altLang="en-US" sz="1200" dirty="0"/>
              <a:t>로 빠지게 된다 앞으로 진행 하는 모든 연산도 결과가 </a:t>
            </a:r>
            <a:r>
              <a:rPr lang="en-US" altLang="ko-KR" sz="1200" dirty="0"/>
              <a:t>ff </a:t>
            </a:r>
            <a:r>
              <a:rPr lang="ko-KR" altLang="en-US" sz="1200" dirty="0"/>
              <a:t>에서 </a:t>
            </a:r>
            <a:r>
              <a:rPr lang="en-US" altLang="ko-KR" sz="1200" dirty="0"/>
              <a:t>carry </a:t>
            </a:r>
            <a:r>
              <a:rPr lang="ko-KR" altLang="en-US" sz="1200" dirty="0"/>
              <a:t>인 </a:t>
            </a:r>
            <a:r>
              <a:rPr lang="en-US" altLang="ko-KR" sz="1200" dirty="0"/>
              <a:t>1</a:t>
            </a:r>
            <a:r>
              <a:rPr lang="ko-KR" altLang="en-US" sz="1200" dirty="0"/>
              <a:t>을 </a:t>
            </a:r>
            <a:endParaRPr lang="en-US" altLang="ko-KR" sz="1200" dirty="0"/>
          </a:p>
          <a:p>
            <a:r>
              <a:rPr lang="ko-KR" altLang="en-US" sz="1200" dirty="0"/>
              <a:t>더하는 연산이기 때문에 결과는</a:t>
            </a:r>
            <a:r>
              <a:rPr lang="en-US" altLang="ko-KR" sz="1200" dirty="0"/>
              <a:t>10000 … 0000 </a:t>
            </a:r>
            <a:r>
              <a:rPr lang="ko-KR" altLang="en-US" sz="1200" dirty="0"/>
              <a:t>이 나오게 되고 </a:t>
            </a:r>
            <a:r>
              <a:rPr lang="en-US" altLang="ko-KR" sz="1200" dirty="0"/>
              <a:t>1</a:t>
            </a:r>
            <a:r>
              <a:rPr lang="ko-KR" altLang="en-US" sz="1200" dirty="0"/>
              <a:t>은 </a:t>
            </a:r>
            <a:r>
              <a:rPr lang="en-US" altLang="ko-KR" sz="1200" dirty="0"/>
              <a:t>32bit</a:t>
            </a:r>
            <a:r>
              <a:rPr lang="ko-KR" altLang="en-US" sz="1200" dirty="0"/>
              <a:t>를 초과하게 </a:t>
            </a:r>
            <a:endParaRPr lang="en-US" altLang="ko-KR" sz="1200" dirty="0"/>
          </a:p>
          <a:p>
            <a:r>
              <a:rPr lang="ko-KR" altLang="en-US" sz="1200" dirty="0"/>
              <a:t>되어서 </a:t>
            </a:r>
            <a:r>
              <a:rPr lang="ko-KR" altLang="en-US" sz="1200" dirty="0" err="1"/>
              <a:t>짤리게</a:t>
            </a:r>
            <a:r>
              <a:rPr lang="ko-KR" altLang="en-US" sz="1200" dirty="0"/>
              <a:t> 되고 결과는 </a:t>
            </a:r>
            <a:r>
              <a:rPr lang="en-US" altLang="ko-KR" sz="1200" dirty="0"/>
              <a:t>0</a:t>
            </a:r>
            <a:r>
              <a:rPr lang="ko-KR" altLang="en-US" sz="1200" dirty="0"/>
              <a:t>만 남으니 </a:t>
            </a:r>
            <a:r>
              <a:rPr lang="en-US" altLang="ko-KR" sz="1200" dirty="0"/>
              <a:t>sum </a:t>
            </a:r>
            <a:r>
              <a:rPr lang="ko-KR" altLang="en-US" sz="1200" dirty="0"/>
              <a:t>의 값은 </a:t>
            </a:r>
            <a:r>
              <a:rPr lang="en-US" altLang="ko-KR" sz="1200" dirty="0"/>
              <a:t>0</a:t>
            </a:r>
            <a:r>
              <a:rPr lang="ko-KR" altLang="en-US" sz="1200" dirty="0"/>
              <a:t>으로 출력된다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5,6</a:t>
            </a:r>
            <a:r>
              <a:rPr lang="ko-KR" altLang="en-US" sz="1200" dirty="0"/>
              <a:t>번째 </a:t>
            </a:r>
            <a:r>
              <a:rPr lang="en-US" altLang="ko-KR" sz="1200" dirty="0"/>
              <a:t>factor</a:t>
            </a:r>
            <a:r>
              <a:rPr lang="ko-KR" altLang="en-US" sz="1200" dirty="0"/>
              <a:t>는 두 </a:t>
            </a:r>
            <a:r>
              <a:rPr lang="ko-KR" altLang="en-US" sz="1200" dirty="0" err="1"/>
              <a:t>입력값은</a:t>
            </a:r>
            <a:r>
              <a:rPr lang="ko-KR" altLang="en-US" sz="1200" dirty="0"/>
              <a:t> 같이하고 </a:t>
            </a:r>
            <a:r>
              <a:rPr lang="en-US" altLang="ko-KR" sz="1200" dirty="0"/>
              <a:t>carry </a:t>
            </a:r>
            <a:r>
              <a:rPr lang="ko-KR" altLang="en-US" sz="1200" dirty="0"/>
              <a:t>만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차이나게</a:t>
            </a:r>
            <a:r>
              <a:rPr lang="ko-KR" altLang="en-US" sz="1200" dirty="0"/>
              <a:t> 설정했다</a:t>
            </a:r>
            <a:r>
              <a:rPr lang="en-US" altLang="ko-KR" sz="1200" dirty="0"/>
              <a:t>. </a:t>
            </a:r>
            <a:r>
              <a:rPr lang="ko-KR" altLang="en-US" sz="1200" dirty="0"/>
              <a:t>앞선 </a:t>
            </a:r>
            <a:r>
              <a:rPr lang="en-US" altLang="ko-KR" sz="1200" dirty="0"/>
              <a:t>4</a:t>
            </a:r>
            <a:r>
              <a:rPr lang="ko-KR" altLang="en-US" sz="1200" dirty="0"/>
              <a:t>번째 </a:t>
            </a:r>
            <a:r>
              <a:rPr lang="en-US" altLang="ko-KR" sz="1200" dirty="0"/>
              <a:t>factor</a:t>
            </a:r>
          </a:p>
          <a:p>
            <a:r>
              <a:rPr lang="ko-KR" altLang="en-US" sz="1200" dirty="0"/>
              <a:t>와 마찬가지로 </a:t>
            </a:r>
            <a:r>
              <a:rPr lang="en-US" altLang="ko-KR" sz="1200" dirty="0"/>
              <a:t>ci</a:t>
            </a:r>
            <a:r>
              <a:rPr lang="ko-KR" altLang="en-US" sz="1200" dirty="0"/>
              <a:t>가 </a:t>
            </a:r>
            <a:r>
              <a:rPr lang="en-US" altLang="ko-KR" sz="1200" dirty="0"/>
              <a:t>1 </a:t>
            </a:r>
            <a:r>
              <a:rPr lang="ko-KR" altLang="en-US" sz="1200" dirty="0" err="1"/>
              <a:t>일때는</a:t>
            </a:r>
            <a:r>
              <a:rPr lang="ko-KR" altLang="en-US" sz="1200" dirty="0"/>
              <a:t> 결과가 </a:t>
            </a:r>
            <a:r>
              <a:rPr lang="en-US" altLang="ko-KR" sz="1200" dirty="0"/>
              <a:t>0 </a:t>
            </a:r>
            <a:r>
              <a:rPr lang="ko-KR" altLang="en-US" sz="1200" dirty="0"/>
              <a:t>이 되지만 만 </a:t>
            </a:r>
            <a:r>
              <a:rPr lang="en-US" altLang="ko-KR" sz="1200" dirty="0"/>
              <a:t>ci </a:t>
            </a:r>
            <a:r>
              <a:rPr lang="ko-KR" altLang="en-US" sz="1200" dirty="0"/>
              <a:t>가 </a:t>
            </a:r>
            <a:r>
              <a:rPr lang="en-US" altLang="ko-KR" sz="1200" dirty="0"/>
              <a:t>0</a:t>
            </a:r>
            <a:r>
              <a:rPr lang="ko-KR" altLang="en-US" sz="1200" dirty="0"/>
              <a:t>일 때는 </a:t>
            </a:r>
            <a:r>
              <a:rPr lang="en-US" altLang="ko-KR" sz="1200" dirty="0" err="1"/>
              <a:t>ffffffff</a:t>
            </a:r>
            <a:r>
              <a:rPr lang="ko-KR" altLang="en-US" sz="1200" dirty="0"/>
              <a:t>가 나오게 된다</a:t>
            </a:r>
            <a:r>
              <a:rPr lang="en-US" altLang="ko-KR" sz="12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AAEEC4-C0B4-36EC-297A-85128E668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27" y="3006111"/>
            <a:ext cx="6096000" cy="121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3006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1E86-9151-7F1C-C7CB-20B2CE07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F90C25D-ED7D-03DD-16AE-DE7520F9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6B76215-AD7F-E7E8-C5E3-E7CE58FE91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01.32bit_adder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9751728-0D8D-5D42-3A5A-AD0ABA4F5E1D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285425-EA05-F750-E09C-A34C866B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7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763E-334A-7A84-C11A-B12CAEA4BADF}"/>
              </a:ext>
            </a:extLst>
          </p:cNvPr>
          <p:cNvSpPr txBox="1"/>
          <p:nvPr/>
        </p:nvSpPr>
        <p:spPr>
          <a:xfrm>
            <a:off x="6400800" y="2706455"/>
            <a:ext cx="57235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Comment:</a:t>
            </a:r>
          </a:p>
          <a:p>
            <a:r>
              <a:rPr lang="en-US" altLang="ko-KR" sz="1200" dirty="0"/>
              <a:t>7,8 </a:t>
            </a:r>
            <a:r>
              <a:rPr lang="ko-KR" altLang="en-US" sz="1200" dirty="0"/>
              <a:t>번째 </a:t>
            </a:r>
            <a:r>
              <a:rPr lang="en-US" altLang="ko-KR" sz="1200" dirty="0" err="1"/>
              <a:t>facotr</a:t>
            </a:r>
            <a:r>
              <a:rPr lang="ko-KR" altLang="en-US" sz="1200" dirty="0"/>
              <a:t>는 두 입력 모두 </a:t>
            </a:r>
            <a:r>
              <a:rPr lang="en-US" altLang="ko-KR" sz="1200" dirty="0"/>
              <a:t>0</a:t>
            </a:r>
            <a:r>
              <a:rPr lang="ko-KR" altLang="en-US" sz="1200" dirty="0"/>
              <a:t>이고 </a:t>
            </a:r>
            <a:r>
              <a:rPr lang="en-US" altLang="ko-KR" sz="1200" dirty="0"/>
              <a:t>carry in </a:t>
            </a:r>
            <a:r>
              <a:rPr lang="ko-KR" altLang="en-US" sz="1200" dirty="0"/>
              <a:t>값만 </a:t>
            </a:r>
            <a:r>
              <a:rPr lang="ko-KR" altLang="en-US" sz="1200" dirty="0" err="1"/>
              <a:t>차이나게</a:t>
            </a:r>
            <a:r>
              <a:rPr lang="ko-KR" altLang="en-US" sz="1200" dirty="0"/>
              <a:t> 만들었다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두 입력 모두 </a:t>
            </a:r>
            <a:r>
              <a:rPr lang="en-US" altLang="ko-KR" sz="1200" dirty="0"/>
              <a:t>0</a:t>
            </a:r>
            <a:r>
              <a:rPr lang="ko-KR" altLang="en-US" sz="1200" dirty="0"/>
              <a:t>이기 때문에 </a:t>
            </a:r>
            <a:r>
              <a:rPr lang="en-US" altLang="ko-KR" sz="1200" dirty="0"/>
              <a:t>carry</a:t>
            </a:r>
            <a:r>
              <a:rPr lang="ko-KR" altLang="en-US" sz="1200" dirty="0"/>
              <a:t> </a:t>
            </a:r>
            <a:r>
              <a:rPr lang="en-US" altLang="ko-KR" sz="1200" dirty="0"/>
              <a:t>in</a:t>
            </a:r>
            <a:r>
              <a:rPr lang="ko-KR" altLang="en-US" sz="1200" dirty="0"/>
              <a:t>의 값에 따라 결과가 바뀌게 되었다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9</a:t>
            </a:r>
            <a:r>
              <a:rPr lang="ko-KR" altLang="en-US" sz="1200" dirty="0"/>
              <a:t>번째 </a:t>
            </a:r>
            <a:r>
              <a:rPr lang="en-US" altLang="ko-KR" sz="1200" dirty="0"/>
              <a:t>factor</a:t>
            </a:r>
            <a:r>
              <a:rPr lang="ko-KR" altLang="en-US" sz="1200" dirty="0"/>
              <a:t>는 두 입력을 </a:t>
            </a:r>
            <a:r>
              <a:rPr lang="en-US" altLang="ko-KR" sz="1200" dirty="0" err="1"/>
              <a:t>fffffff</a:t>
            </a:r>
            <a:r>
              <a:rPr lang="ko-KR" altLang="en-US" sz="1200" dirty="0"/>
              <a:t>로 설정하였고 </a:t>
            </a:r>
            <a:r>
              <a:rPr lang="en-US" altLang="ko-KR" sz="1200" dirty="0"/>
              <a:t>carry in </a:t>
            </a:r>
            <a:r>
              <a:rPr lang="ko-KR" altLang="en-US" sz="1200" dirty="0"/>
              <a:t>도</a:t>
            </a:r>
            <a:r>
              <a:rPr lang="en-US" altLang="ko-KR" sz="1200" dirty="0"/>
              <a:t> 0</a:t>
            </a:r>
            <a:r>
              <a:rPr lang="ko-KR" altLang="en-US" sz="1200" dirty="0"/>
              <a:t>으로 설정하였다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첫번째로 </a:t>
            </a:r>
            <a:r>
              <a:rPr lang="en-US" altLang="ko-KR" sz="1200" dirty="0"/>
              <a:t>1111111</a:t>
            </a:r>
            <a:r>
              <a:rPr lang="ko-KR" altLang="en-US" sz="1200" dirty="0"/>
              <a:t>과 </a:t>
            </a:r>
            <a:r>
              <a:rPr lang="en-US" altLang="ko-KR" sz="1200" dirty="0"/>
              <a:t>11111111</a:t>
            </a:r>
            <a:r>
              <a:rPr lang="ko-KR" altLang="en-US" sz="1200" dirty="0"/>
              <a:t>을 더하기 때문에 결과가 </a:t>
            </a:r>
            <a:r>
              <a:rPr lang="en-US" altLang="ko-KR" sz="1200" dirty="0" err="1"/>
              <a:t>fe</a:t>
            </a:r>
            <a:r>
              <a:rPr lang="en-US" altLang="ko-KR" sz="1200" dirty="0"/>
              <a:t> </a:t>
            </a:r>
            <a:r>
              <a:rPr lang="ko-KR" altLang="en-US" sz="1200" dirty="0"/>
              <a:t>가 되고 </a:t>
            </a:r>
            <a:r>
              <a:rPr lang="en-US" altLang="ko-KR" sz="1200" dirty="0"/>
              <a:t>carry</a:t>
            </a:r>
            <a:r>
              <a:rPr lang="ko-KR" altLang="en-US" sz="1200" dirty="0"/>
              <a:t>가 </a:t>
            </a:r>
            <a:r>
              <a:rPr lang="en-US" altLang="ko-KR" sz="1200" dirty="0"/>
              <a:t>1</a:t>
            </a:r>
            <a:r>
              <a:rPr lang="ko-KR" altLang="en-US" sz="1200" dirty="0" err="1"/>
              <a:t>이되기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/>
              <a:t>때문에 앞에서 할 연산들은 모두 </a:t>
            </a:r>
            <a:r>
              <a:rPr lang="en-US" altLang="ko-KR" sz="1200" dirty="0"/>
              <a:t>ff </a:t>
            </a:r>
            <a:r>
              <a:rPr lang="ko-KR" altLang="en-US" sz="1200" dirty="0"/>
              <a:t>로 통일되고 </a:t>
            </a:r>
            <a:r>
              <a:rPr lang="en-US" altLang="ko-KR" sz="1200" dirty="0"/>
              <a:t>carryout</a:t>
            </a:r>
            <a:r>
              <a:rPr lang="ko-KR" altLang="en-US" sz="1200" dirty="0"/>
              <a:t>도 </a:t>
            </a:r>
            <a:r>
              <a:rPr lang="en-US" altLang="ko-KR" sz="1200" dirty="0"/>
              <a:t>1</a:t>
            </a:r>
            <a:r>
              <a:rPr lang="ko-KR" altLang="en-US" sz="1200" dirty="0" err="1"/>
              <a:t>이되게된다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10</a:t>
            </a:r>
            <a:r>
              <a:rPr lang="ko-KR" altLang="en-US" sz="1200" dirty="0"/>
              <a:t>번째 </a:t>
            </a:r>
            <a:r>
              <a:rPr lang="en-US" altLang="ko-KR" sz="1200" dirty="0"/>
              <a:t>factor</a:t>
            </a:r>
            <a:r>
              <a:rPr lang="ko-KR" altLang="en-US" sz="1200" dirty="0"/>
              <a:t>는 </a:t>
            </a:r>
            <a:r>
              <a:rPr lang="en-US" altLang="ko-KR" sz="1200" dirty="0"/>
              <a:t>ffff0000 </a:t>
            </a:r>
            <a:r>
              <a:rPr lang="ko-KR" altLang="en-US" sz="1200" dirty="0"/>
              <a:t>과 </a:t>
            </a:r>
            <a:r>
              <a:rPr lang="en-US" altLang="ko-KR" sz="1200" dirty="0"/>
              <a:t>0000ffff </a:t>
            </a:r>
            <a:r>
              <a:rPr lang="ko-KR" altLang="en-US" sz="1200" dirty="0"/>
              <a:t>이다</a:t>
            </a:r>
            <a:r>
              <a:rPr lang="en-US" altLang="ko-KR" sz="1200" dirty="0"/>
              <a:t>. Carry</a:t>
            </a:r>
            <a:r>
              <a:rPr lang="ko-KR" altLang="en-US" sz="1200" dirty="0"/>
              <a:t>가 없기 때문에 결과는 </a:t>
            </a:r>
            <a:r>
              <a:rPr lang="en-US" altLang="ko-KR" sz="1200" dirty="0" err="1"/>
              <a:t>ffffffff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나올것</a:t>
            </a:r>
            <a:endParaRPr lang="en-US" altLang="ko-KR" sz="1200" dirty="0"/>
          </a:p>
          <a:p>
            <a:r>
              <a:rPr lang="ko-KR" altLang="en-US" sz="1200" dirty="0"/>
              <a:t>이라고 예상하고 예상대로 결과가 나왔다</a:t>
            </a:r>
            <a:r>
              <a:rPr lang="en-US" altLang="ko-KR" sz="12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B49F8E-1B64-AD9C-6811-5EE0A440D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727" y="3260453"/>
            <a:ext cx="6096000" cy="70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252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1BD1-3C38-98BA-2C82-F0D236D8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D1DE67B-0A7A-1138-9256-90AE89FA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D53AC53-5ED5-FFD4-8973-64746BBEEE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02.32bit_subtractor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B196898-DCB2-18BE-B293-CD8A2B1507F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9CF593-6768-F2D5-C39E-9E2D6598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F3B22-9B49-4B37-AFB3-B336AC331F26}"/>
              </a:ext>
            </a:extLst>
          </p:cNvPr>
          <p:cNvSpPr txBox="1"/>
          <p:nvPr/>
        </p:nvSpPr>
        <p:spPr>
          <a:xfrm>
            <a:off x="2476500" y="1773827"/>
            <a:ext cx="7239000" cy="41549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module sub_32bit(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a,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b,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result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input [31:0] a, b;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output [31:0] result;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wire [31:0]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inv_b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cla_32bit u_adder_32bit(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.a(a),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.b(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inv_b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.ci(1'b0),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.sum(result),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.c()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);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assign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inv_b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(~b) + 1;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735F2-6F74-1C9E-C5D7-B5C66F1CAF9D}"/>
              </a:ext>
            </a:extLst>
          </p:cNvPr>
          <p:cNvSpPr txBox="1"/>
          <p:nvPr/>
        </p:nvSpPr>
        <p:spPr>
          <a:xfrm>
            <a:off x="4305300" y="596981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RTL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2421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AB37-0275-AF89-07BD-087FB5FB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E204635-A3AC-6DA1-9751-DD60B1F6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FB0680B-FFEE-F386-7ECA-F85AB4E0BA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02.32bit_subtractor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CA349F2-53B1-6C1C-5C3D-6F34B8BB7747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055727-8ABF-4915-5711-B54503863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2579B-3B10-A2D9-0FB7-0AD4CCA15DA6}"/>
              </a:ext>
            </a:extLst>
          </p:cNvPr>
          <p:cNvSpPr txBox="1"/>
          <p:nvPr/>
        </p:nvSpPr>
        <p:spPr>
          <a:xfrm>
            <a:off x="2971800" y="2207576"/>
            <a:ext cx="7239000" cy="36625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Put your testbench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effectLst/>
                <a:latin typeface="Consolas" panose="020B0609020204030204" pitchFamily="49" charset="0"/>
              </a:rPr>
              <a:t>#10 a = 32'hFFFFFFFF; b = 32'hFFFFFFFF;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32'h00000000; b = 32'hFFFFFFFF;</a:t>
            </a:r>
          </a:p>
          <a:p>
            <a:br>
              <a:rPr lang="en-US" altLang="ko-KR" sz="1400" b="0" dirty="0"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32'h00000000; b = 32'h00000001;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32'h0000000A; b = 32'h00000001;</a:t>
            </a:r>
          </a:p>
          <a:p>
            <a:br>
              <a:rPr lang="en-US" altLang="ko-KR" sz="1400" b="0" dirty="0"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32'hFFFFFFFF; b = 32'h0F0F0F0F;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32'hF0F0F0F0; b = 32'hFFFFFFFF;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32'd12; b = 32'd12;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32'hFFFFFFFF; b = 32'hAAAAAAAA;</a:t>
            </a:r>
          </a:p>
          <a:p>
            <a:br>
              <a:rPr lang="en-US" altLang="ko-KR" sz="1400" b="0" dirty="0"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32'd1010; b = 32'd1011;</a:t>
            </a:r>
          </a:p>
          <a:p>
            <a:r>
              <a:rPr lang="en-US" altLang="ko-KR" sz="1400" b="0" dirty="0">
                <a:effectLst/>
                <a:latin typeface="Consolas" panose="020B0609020204030204" pitchFamily="49" charset="0"/>
              </a:rPr>
              <a:t>        #10 a = 32'h0A0B0C0D; b = 32'hA0B0C0D0;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      #10</a:t>
            </a:r>
            <a:endParaRPr lang="en-US" altLang="ko-KR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Example 10 cases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65CBA-123E-0C13-CF63-FBD8B01389D1}"/>
              </a:ext>
            </a:extLst>
          </p:cNvPr>
          <p:cNvSpPr txBox="1"/>
          <p:nvPr/>
        </p:nvSpPr>
        <p:spPr>
          <a:xfrm>
            <a:off x="4305300" y="596981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Testbench factor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3639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09C2-FD75-00B1-3A3C-4AAB9682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8BD8560-C313-D25B-8967-C1DF4A93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105BC35B-24DE-D1DA-E086-0D8E124EF3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02.32bit_subtractor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D3A4F6CE-EFA2-18D1-EFBF-D97E7777769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8B0859D-2F61-3D93-1468-3C880E88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10572-B480-A62C-C035-798A9F17E303}"/>
              </a:ext>
            </a:extLst>
          </p:cNvPr>
          <p:cNvSpPr txBox="1"/>
          <p:nvPr/>
        </p:nvSpPr>
        <p:spPr>
          <a:xfrm>
            <a:off x="914400" y="3886200"/>
            <a:ext cx="10852330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가장 처음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두개 이용하였고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같은 수를 뺏으니 예상되는 결과도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이었고 결과도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나오게 되었다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두번째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에서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빼는 것 이었다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보수를 취하여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0000_0001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구할 수 있었고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2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보수를 취하였으니 두 수의 합으로 변하여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이라는 결과를 얻을 수 있었다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세번째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에서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빼는 것이다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의보수로 취하여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구할 수 있었고 두 수의 합을 계산하여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라는 결과를 얻을 수 있었다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네번째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factor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진수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 A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진수로 생각하면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진수와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진수가 같기 때문에 두 수의 차는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9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라고 예상하였고 결과도 똑같이 얻을 수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있었다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다섯번째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0f0f_0f0f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단순 계산으로도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f0f0_f0f0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이라는 결과가 예상되었고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결과도 같다는 걸 알 수 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6D569A-A109-A2A7-E3B7-81A92200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323946"/>
            <a:ext cx="9564435" cy="11050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F790A39-5512-DA94-4F7E-976C15B7D415}"/>
              </a:ext>
            </a:extLst>
          </p:cNvPr>
          <p:cNvSpPr/>
          <p:nvPr/>
        </p:nvSpPr>
        <p:spPr>
          <a:xfrm>
            <a:off x="1295400" y="2357986"/>
            <a:ext cx="4343400" cy="95234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10752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FA96D-75EC-A26D-44E3-899C8323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93D3C8F-AA74-F966-CC1E-8E758C9F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BA57DAF-190D-B126-27E8-CEDCC098F3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02.32bit_subtractor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408D5B7D-FEE2-2508-F928-8D0839A9C76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C34801-7FCF-5955-1C4C-F962853A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2C116-818D-28DC-C3FC-9375E34F3767}"/>
              </a:ext>
            </a:extLst>
          </p:cNvPr>
          <p:cNvSpPr txBox="1"/>
          <p:nvPr/>
        </p:nvSpPr>
        <p:spPr>
          <a:xfrm>
            <a:off x="914400" y="3886200"/>
            <a:ext cx="113043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여섯번째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f0f0_f0f0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과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단순 계산이 복잡하므로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보수로 변화 시키면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0000_0001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따라서 두 수를 더하면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f0f0_f0f1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이라는 결과가 예상되고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같은 결과를 얻을 수 있었다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7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두 </a:t>
            </a: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입력값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모두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두 입력이 모두 같기 때문에 결과는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이라고 예상하였고 같은 결과를 얻을 수 있었다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8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aaaa_aaaa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F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16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진수로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15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이고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두 수의 차인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반복되는 결과를 예상할 수 있었고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5555_5555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구할 수 있었다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9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번째 요소는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진수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1010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과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1011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두 입력의 차이가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이고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a&lt;b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이기때문에 결과는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라고 예상하였고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동일한 결과를 얻을 수 있었다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번째 요소는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0a0b_0c0d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a0b0_c0d0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2A0117-386F-C805-CCCC-3984E760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323946"/>
            <a:ext cx="9564435" cy="11050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015F168-3D08-1F96-8653-DA3C4DCA6AC4}"/>
              </a:ext>
            </a:extLst>
          </p:cNvPr>
          <p:cNvSpPr/>
          <p:nvPr/>
        </p:nvSpPr>
        <p:spPr>
          <a:xfrm>
            <a:off x="5580982" y="2333163"/>
            <a:ext cx="5010817" cy="95234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11766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FE47-125B-1CC7-6AD5-B0CDB41D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E056886-F3D4-01AC-BFC4-6936A5D8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A1D5BCA-3D67-7B8D-504C-5222189087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03.32bit_ALU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A30C5071-5311-9271-07E9-59DD0736EA2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EB7246-5CCC-7A6A-AD78-90897BD2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EB5EA-E861-8595-AB1F-9B57BE4B0CE7}"/>
              </a:ext>
            </a:extLst>
          </p:cNvPr>
          <p:cNvSpPr txBox="1"/>
          <p:nvPr/>
        </p:nvSpPr>
        <p:spPr>
          <a:xfrm>
            <a:off x="1981200" y="1709589"/>
            <a:ext cx="4495800" cy="444737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module alu_32bit(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result,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endParaRPr lang="en-US" altLang="ko-KR" sz="8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input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input [2:0]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output reg [31:0] result;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output reg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           // FLAG 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wire N, Z, C, V;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wire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add_sub_b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wire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adder_result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and_result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or_result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SLT_result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assign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add_sub_b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3'b001 ||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3'b101) ? ~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+ 32'h1 :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cla_32bit u_add_32bit_add(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.b(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add_sub_b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.ci(1'b0),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.sum(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adder_result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.N(N),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.Z(Z),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.C(C),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.V(V)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);    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DF25A-6A24-9289-F1C0-9FB897B7ACFC}"/>
              </a:ext>
            </a:extLst>
          </p:cNvPr>
          <p:cNvSpPr txBox="1"/>
          <p:nvPr/>
        </p:nvSpPr>
        <p:spPr>
          <a:xfrm>
            <a:off x="-838200" y="350341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B79D3-93FD-1EAF-206E-022D781E146D}"/>
              </a:ext>
            </a:extLst>
          </p:cNvPr>
          <p:cNvSpPr txBox="1"/>
          <p:nvPr/>
        </p:nvSpPr>
        <p:spPr>
          <a:xfrm>
            <a:off x="6477000" y="1363008"/>
            <a:ext cx="4191000" cy="489364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always@(*)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if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3'b000 ||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3'b001 ||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3'b101)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{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} = {N, Z, C, V};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else if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3'b010)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and_result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[31];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and_result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32'h0) ? 1'b1 :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else if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3'b011)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or_result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[31];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or_result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== 32'h0) ? 1'b1 :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else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{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} = 4'h0;    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assign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and_result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&amp;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assign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or_result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|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assign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SLT_result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^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always@(*)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case(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3'b000 : result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adder_result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        // add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3'b001 : result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adder_result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        // sub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3'b010 : result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and_result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          // and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3'b011 : result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or_result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           // or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3'b101 : result =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SLT_result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          // SLT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default : result = 32'h0000_0000;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endcase</a:t>
            </a:r>
            <a:endParaRPr lang="en-US" altLang="ko-KR" sz="8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1984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21AE8-3822-868B-0229-03AB2A43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F696F61-A8CA-8F46-679E-C085D4B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6789B96-8998-3768-A6BB-A2277FE24D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03.32bit_ALU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1778566-E5F8-66A6-4C29-24AEB3A3762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4CC80F-44FF-7F4F-9454-1AD3E7B2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D7825-AD33-E99D-D165-E5598B5DE6CA}"/>
              </a:ext>
            </a:extLst>
          </p:cNvPr>
          <p:cNvSpPr txBox="1"/>
          <p:nvPr/>
        </p:nvSpPr>
        <p:spPr>
          <a:xfrm>
            <a:off x="4000500" y="3048000"/>
            <a:ext cx="4190999" cy="17851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onsolas" panose="020B0609020204030204" pitchFamily="49" charset="0"/>
              </a:rPr>
              <a:t>Alu</a:t>
            </a:r>
            <a:r>
              <a:rPr lang="ko-KR" altLang="en-US" sz="1100" dirty="0">
                <a:latin typeface="Consolas" panose="020B0609020204030204" pitchFamily="49" charset="0"/>
              </a:rPr>
              <a:t> 는 산술 논리 장치를 뜻함</a:t>
            </a:r>
            <a:r>
              <a:rPr lang="en-US" altLang="ko-KR" sz="1100" dirty="0">
                <a:latin typeface="Consolas" panose="020B0609020204030204" pitchFamily="49" charset="0"/>
              </a:rPr>
              <a:t>. Alu</a:t>
            </a:r>
            <a:r>
              <a:rPr lang="ko-KR" altLang="en-US" sz="1100" dirty="0">
                <a:latin typeface="Consolas" panose="020B0609020204030204" pitchFamily="49" charset="0"/>
              </a:rPr>
              <a:t>는 두 </a:t>
            </a:r>
            <a:r>
              <a:rPr lang="ko-KR" altLang="en-US" sz="1100" dirty="0" err="1">
                <a:latin typeface="Consolas" panose="020B0609020204030204" pitchFamily="49" charset="0"/>
              </a:rPr>
              <a:t>입력값을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latin typeface="Consolas" panose="020B0609020204030204" pitchFamily="49" charset="0"/>
              </a:rPr>
              <a:t>ALUcontorl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을 통해서 덧셈을 할지</a:t>
            </a:r>
            <a:r>
              <a:rPr lang="en-US" altLang="ko-KR" sz="1100" dirty="0">
                <a:latin typeface="Consolas" panose="020B0609020204030204" pitchFamily="49" charset="0"/>
              </a:rPr>
              <a:t>, </a:t>
            </a:r>
            <a:r>
              <a:rPr lang="ko-KR" altLang="en-US" sz="1100" dirty="0">
                <a:latin typeface="Consolas" panose="020B0609020204030204" pitchFamily="49" charset="0"/>
              </a:rPr>
              <a:t>뺄셈을 할지 </a:t>
            </a:r>
            <a:r>
              <a:rPr lang="en-US" altLang="ko-KR" sz="1100" dirty="0">
                <a:latin typeface="Consolas" panose="020B0609020204030204" pitchFamily="49" charset="0"/>
              </a:rPr>
              <a:t>, And </a:t>
            </a:r>
            <a:r>
              <a:rPr lang="ko-KR" altLang="en-US" sz="1100" dirty="0">
                <a:latin typeface="Consolas" panose="020B0609020204030204" pitchFamily="49" charset="0"/>
              </a:rPr>
              <a:t>연산을 할지</a:t>
            </a:r>
            <a:r>
              <a:rPr lang="en-US" altLang="ko-KR" sz="1100" dirty="0">
                <a:latin typeface="Consolas" panose="020B0609020204030204" pitchFamily="49" charset="0"/>
              </a:rPr>
              <a:t>, or</a:t>
            </a:r>
            <a:r>
              <a:rPr lang="ko-KR" altLang="en-US" sz="1100" dirty="0">
                <a:latin typeface="Consolas" panose="020B0609020204030204" pitchFamily="49" charset="0"/>
              </a:rPr>
              <a:t> 연산을 할지</a:t>
            </a:r>
            <a:r>
              <a:rPr lang="en-US" altLang="ko-KR" sz="1100" dirty="0">
                <a:latin typeface="Consolas" panose="020B0609020204030204" pitchFamily="49" charset="0"/>
              </a:rPr>
              <a:t>, SLT </a:t>
            </a:r>
            <a:r>
              <a:rPr lang="ko-KR" altLang="en-US" sz="1100" dirty="0">
                <a:latin typeface="Consolas" panose="020B0609020204030204" pitchFamily="49" charset="0"/>
              </a:rPr>
              <a:t>연산을 할지 선택함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1100" b="0" dirty="0">
                <a:effectLst/>
                <a:latin typeface="Consolas" panose="020B0609020204030204" pitchFamily="49" charset="0"/>
              </a:rPr>
              <a:t>또한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ALU</a:t>
            </a:r>
            <a:r>
              <a:rPr lang="ko-KR" altLang="en-US" sz="1100" dirty="0">
                <a:latin typeface="Consolas" panose="020B0609020204030204" pitchFamily="49" charset="0"/>
              </a:rPr>
              <a:t>는 연산을 한 후 </a:t>
            </a:r>
            <a:r>
              <a:rPr lang="en-US" altLang="ko-KR" sz="1100" dirty="0">
                <a:latin typeface="Consolas" panose="020B0609020204030204" pitchFamily="49" charset="0"/>
              </a:rPr>
              <a:t>N,Z,C,V </a:t>
            </a:r>
            <a:r>
              <a:rPr lang="ko-KR" altLang="en-US" sz="1100" dirty="0">
                <a:latin typeface="Consolas" panose="020B0609020204030204" pitchFamily="49" charset="0"/>
              </a:rPr>
              <a:t>플래그 세팅도 가능함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ko-KR" altLang="en-US" sz="1100" dirty="0">
                <a:latin typeface="Consolas" panose="020B0609020204030204" pitchFamily="49" charset="0"/>
              </a:rPr>
              <a:t>위 </a:t>
            </a:r>
            <a:r>
              <a:rPr lang="en-US" altLang="ko-KR" sz="1100" dirty="0">
                <a:latin typeface="Consolas" panose="020B0609020204030204" pitchFamily="49" charset="0"/>
              </a:rPr>
              <a:t>RTL </a:t>
            </a:r>
            <a:r>
              <a:rPr lang="ko-KR" altLang="en-US" sz="1100" dirty="0">
                <a:latin typeface="Consolas" panose="020B0609020204030204" pitchFamily="49" charset="0"/>
              </a:rPr>
              <a:t>코드는 따로 </a:t>
            </a:r>
            <a:r>
              <a:rPr lang="en-US" altLang="ko-KR" sz="1100" dirty="0">
                <a:latin typeface="Consolas" panose="020B0609020204030204" pitchFamily="49" charset="0"/>
              </a:rPr>
              <a:t>subtractor </a:t>
            </a:r>
            <a:r>
              <a:rPr lang="ko-KR" altLang="en-US" sz="1100" dirty="0">
                <a:latin typeface="Consolas" panose="020B0609020204030204" pitchFamily="49" charset="0"/>
              </a:rPr>
              <a:t>모듈을 인스턴스 하지 않고 모듈 내에서 </a:t>
            </a:r>
            <a:r>
              <a:rPr lang="en-US" altLang="ko-KR" sz="1100" dirty="0">
                <a:latin typeface="Consolas" panose="020B0609020204030204" pitchFamily="49" charset="0"/>
              </a:rPr>
              <a:t>b</a:t>
            </a:r>
            <a:r>
              <a:rPr lang="ko-KR" altLang="en-US" sz="1100" dirty="0">
                <a:latin typeface="Consolas" panose="020B0609020204030204" pitchFamily="49" charset="0"/>
              </a:rPr>
              <a:t>가 음수라면 </a:t>
            </a:r>
            <a:r>
              <a:rPr lang="en-US" altLang="ko-KR" sz="1100" dirty="0">
                <a:latin typeface="Consolas" panose="020B0609020204030204" pitchFamily="49" charset="0"/>
              </a:rPr>
              <a:t>2</a:t>
            </a:r>
            <a:r>
              <a:rPr lang="ko-KR" altLang="en-US" sz="1100" dirty="0">
                <a:latin typeface="Consolas" panose="020B0609020204030204" pitchFamily="49" charset="0"/>
              </a:rPr>
              <a:t>의보수를 취하게 만드는 코드를 사용했음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따라서 </a:t>
            </a:r>
            <a:r>
              <a:rPr lang="en-US" altLang="ko-KR" sz="1100" dirty="0">
                <a:latin typeface="Consolas" panose="020B0609020204030204" pitchFamily="49" charset="0"/>
              </a:rPr>
              <a:t>cla_32bit </a:t>
            </a:r>
            <a:r>
              <a:rPr lang="ko-KR" altLang="en-US" sz="1100" dirty="0">
                <a:latin typeface="Consolas" panose="020B0609020204030204" pitchFamily="49" charset="0"/>
              </a:rPr>
              <a:t>모듈만 인스턴스 하였음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AND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연산은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&amp;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기호를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, OR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연산은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| </a:t>
            </a:r>
            <a:r>
              <a:rPr lang="ko-KR" altLang="en-US" sz="1100" dirty="0">
                <a:latin typeface="Consolas" panose="020B0609020204030204" pitchFamily="49" charset="0"/>
              </a:rPr>
              <a:t>기호를 이용해 결과를 얻어낼 수 있게 설계하였고</a:t>
            </a:r>
            <a:r>
              <a:rPr lang="en-US" altLang="ko-KR" sz="1100" dirty="0">
                <a:latin typeface="Consolas" panose="020B0609020204030204" pitchFamily="49" charset="0"/>
              </a:rPr>
              <a:t>. SLT</a:t>
            </a:r>
            <a:r>
              <a:rPr lang="ko-KR" altLang="en-US" sz="1100" dirty="0">
                <a:latin typeface="Consolas" panose="020B0609020204030204" pitchFamily="49" charset="0"/>
              </a:rPr>
              <a:t>는 </a:t>
            </a:r>
            <a:r>
              <a:rPr lang="en-US" altLang="ko-KR" sz="1100" dirty="0" err="1">
                <a:latin typeface="Consolas" panose="020B0609020204030204" pitchFamily="49" charset="0"/>
              </a:rPr>
              <a:t>aN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과 </a:t>
            </a:r>
            <a:r>
              <a:rPr lang="en-US" altLang="ko-KR" sz="1100" dirty="0" err="1">
                <a:latin typeface="Consolas" panose="020B0609020204030204" pitchFamily="49" charset="0"/>
              </a:rPr>
              <a:t>aV</a:t>
            </a:r>
            <a:r>
              <a:rPr lang="ko-KR" altLang="en-US" sz="1100" dirty="0">
                <a:latin typeface="Consolas" panose="020B0609020204030204" pitchFamily="49" charset="0"/>
              </a:rPr>
              <a:t>를 </a:t>
            </a:r>
            <a:r>
              <a:rPr lang="en-US" altLang="ko-KR" sz="1100" dirty="0">
                <a:latin typeface="Consolas" panose="020B0609020204030204" pitchFamily="49" charset="0"/>
              </a:rPr>
              <a:t>XOR </a:t>
            </a:r>
            <a:r>
              <a:rPr lang="ko-KR" altLang="en-US" sz="1100" dirty="0">
                <a:latin typeface="Consolas" panose="020B0609020204030204" pitchFamily="49" charset="0"/>
              </a:rPr>
              <a:t>시켜 결과를 얻어낼 수 있게 </a:t>
            </a:r>
            <a:r>
              <a:rPr lang="ko-KR" altLang="en-US" sz="1100" dirty="0" err="1">
                <a:latin typeface="Consolas" panose="020B0609020204030204" pitchFamily="49" charset="0"/>
              </a:rPr>
              <a:t>만듬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CB3CE-3EF2-6964-67A1-97359FC06789}"/>
              </a:ext>
            </a:extLst>
          </p:cNvPr>
          <p:cNvSpPr txBox="1"/>
          <p:nvPr/>
        </p:nvSpPr>
        <p:spPr>
          <a:xfrm>
            <a:off x="4238624" y="578762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RTL 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01852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D894-19B0-C9F6-1314-D809842E9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2340F8F-C534-27AF-601D-8D4F5F518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992FA82-6BA7-D40A-6D3C-9AADA4C223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03.32bit_ALU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ABD3A3D-C534-F631-B6D9-54D27A5605E3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111A57-574C-2083-A804-CB290096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14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643CF-F73E-0E34-D522-07F88382BF84}"/>
              </a:ext>
            </a:extLst>
          </p:cNvPr>
          <p:cNvSpPr txBox="1"/>
          <p:nvPr/>
        </p:nvSpPr>
        <p:spPr>
          <a:xfrm>
            <a:off x="2362200" y="1785155"/>
            <a:ext cx="3733800" cy="39087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module testbench;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reg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reg [2:0]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wire [31:0] result;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wire N, Z, C, V;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alu_32bit u_32bit_ALU(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.result(result),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(N),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aZ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(Z),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aC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(C),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aV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testbench.fsdb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//Example 1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32'd2;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32'd2;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32'd2;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32'd2;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3'b101;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32'd2;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56099-57D4-B312-E92E-265259BBF59F}"/>
              </a:ext>
            </a:extLst>
          </p:cNvPr>
          <p:cNvSpPr txBox="1"/>
          <p:nvPr/>
        </p:nvSpPr>
        <p:spPr>
          <a:xfrm>
            <a:off x="4038600" y="590790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Testbench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F407B-A3DC-3B20-D19F-183B1017B7B5}"/>
              </a:ext>
            </a:extLst>
          </p:cNvPr>
          <p:cNvSpPr txBox="1"/>
          <p:nvPr/>
        </p:nvSpPr>
        <p:spPr>
          <a:xfrm>
            <a:off x="6105832" y="1755755"/>
            <a:ext cx="4191000" cy="4031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//Example 2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-32'd2;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32'h7fff_ffff;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32'h7fff_ffff;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32'd3;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-32'd5;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-32'd2;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3'b101;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32'd0; 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Put your testbench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32'd6;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32'd10;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-32'd5;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32'd10;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32'h0F0F0F0F;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32'h000FFF00;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32'hFF0FF00F;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3'b101;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32'd10; 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32'd0 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Example 10 cases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#10 $finish;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800" b="0" dirty="0">
              <a:effectLst/>
              <a:latin typeface="Consolas" panose="020B0609020204030204" pitchFamily="49" charset="0"/>
            </a:endParaRP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endParaRPr lang="en-US" altLang="ko-KR" sz="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0725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9FA3-07A2-F083-6CAE-F3F62D4F4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C61CD28-0C71-1D92-4C68-9E562287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7F3A169-8B83-1AB7-ECFE-17AB2D8484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03.32bit_ALU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BA648713-3296-0F99-2038-C6E172C602D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4C8879-57E8-66DB-D3E6-5A554179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450DC-26D1-342E-6561-163C1E857122}"/>
              </a:ext>
            </a:extLst>
          </p:cNvPr>
          <p:cNvSpPr txBox="1"/>
          <p:nvPr/>
        </p:nvSpPr>
        <p:spPr>
          <a:xfrm>
            <a:off x="3048000" y="2819400"/>
            <a:ext cx="7239000" cy="24622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3'b000;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3'b001;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32'd10;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32'd6;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32'd5;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3'b011;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32'd10;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3'b000;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-32'd5;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3'b001;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32'd10;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32'd10;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32'h0F0F0F0F;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3'b011;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32'h000FFF00;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32'hFF0FF00F;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3'b101;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32'd3;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32'd10; 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ALUControl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3'b010;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a_in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32'd0 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b_in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32'd0;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#10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01395-5043-DAFE-155A-62FE250ECCA7}"/>
              </a:ext>
            </a:extLst>
          </p:cNvPr>
          <p:cNvSpPr txBox="1"/>
          <p:nvPr/>
        </p:nvSpPr>
        <p:spPr>
          <a:xfrm>
            <a:off x="4305300" y="596981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Testbench factor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52584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AE51-739C-39DA-066C-081DB589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B89F6F3-872D-C9E6-25CE-549E9136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571638C7-D3F9-B2FB-B5E6-8DF1D25DC20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03.32bit_ALU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1122FAF-AE99-3998-B836-73D18629985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F27DC7-5AC1-C07B-0C21-2977DCCB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BA119-D312-3008-5F50-1039F6CB4248}"/>
              </a:ext>
            </a:extLst>
          </p:cNvPr>
          <p:cNvSpPr txBox="1"/>
          <p:nvPr/>
        </p:nvSpPr>
        <p:spPr>
          <a:xfrm>
            <a:off x="816864" y="3962400"/>
            <a:ext cx="114614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첫번째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 = 3. b = 5 ,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000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더한 결과값을 출력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따라서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8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결과값으로 출력되었다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두번째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factor a = a, b = 6,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Alucontrol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001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이기때문에 뺄셈 결과값을 출력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따라서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결과값으로 출력됨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  c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플래그가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설정됨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번째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factor a = a, b = 5,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Alucontrol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010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이기때문에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AND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연산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결과값을 출력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A = 1010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이고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b = 0101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상위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28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비트는 전부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0 ). AND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연산은 두 값이 모두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일때만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나오기 때문에 모든 값이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으로 출력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결과값이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이기 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플래그 설정됨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네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번째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factor a = a, b =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Alucontrol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011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이기때문에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OR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결과값을 출력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두 값이 모두 같기 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그대로 출력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9513AA-F374-3891-ABEA-AE332F5E2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0030" y="2170683"/>
            <a:ext cx="10432370" cy="132695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5AE94E7-DC7F-7112-7CDC-E7E34CA8E681}"/>
              </a:ext>
            </a:extLst>
          </p:cNvPr>
          <p:cNvSpPr/>
          <p:nvPr/>
        </p:nvSpPr>
        <p:spPr>
          <a:xfrm>
            <a:off x="1285265" y="2286000"/>
            <a:ext cx="4505935" cy="107848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70402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18DB-4445-B341-7E73-9C7C02AA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E771141-36D7-1FF3-D408-E5329E0B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98BD48A-67F7-73F1-1BB9-A23D778F893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03.32bit_ALU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890A441-0A16-DF11-91FC-5CF9329DF726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F2C121-8192-FE08-788D-4B3354F3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BB8D9-348D-28B5-FCB7-CA2FDBCA8270}"/>
              </a:ext>
            </a:extLst>
          </p:cNvPr>
          <p:cNvSpPr txBox="1"/>
          <p:nvPr/>
        </p:nvSpPr>
        <p:spPr>
          <a:xfrm>
            <a:off x="253154" y="3962400"/>
            <a:ext cx="1193884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다섯번째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 = 3, b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=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-5. 5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보수를 취하면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B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나옴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000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덧셈 수행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a = 0000_0003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이고 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B =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ffff_fffb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제일 하위비트만 고려해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계산하면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e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나온다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따라서 결과는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ffff_fffe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나온다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음수 이기 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플래그 </a:t>
            </a: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설정었다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여섯번째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 = a, b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=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a,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001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뺄셈 수행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두 입력 모두 같은 수 이기 때문에 결과값은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나온다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C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플래그와 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Z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플래그 설정됨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일곱번째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 =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b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=0f0f_0f0f.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010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AND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연산 수행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f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전부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이고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은 전부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결과값은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0f0f_0f0f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나온다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여덟번째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a= 000f_ff00 , b = ff0f_f00f .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011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OR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연산 수행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or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연산은 </a:t>
            </a: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둘중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하나만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이라도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결과는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ff0f_ff0f,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결과가 음수라서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플래그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설정되었다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아홉번째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 = 3, b = a. 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이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101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이기때문에 대소비교 연산 수행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 3&lt;a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 결과값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출력됨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열번째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 a = 0, b= 0 . </a:t>
            </a:r>
            <a:r>
              <a:rPr lang="en-US" altLang="ko-KR" sz="12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ALUcontrol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010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AND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연산수행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은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32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비트 전부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이기 때문에 결과값 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출력</a:t>
            </a:r>
            <a:r>
              <a:rPr lang="en-US" altLang="ko-KR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Z </a:t>
            </a:r>
            <a:r>
              <a:rPr lang="ko-KR" altLang="en-US" sz="12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플래그 설정됨</a:t>
            </a:r>
            <a:endParaRPr lang="en-US" altLang="ko-KR" sz="12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22DA1B-E868-5ED3-226C-56A3A1AE6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0030" y="2170683"/>
            <a:ext cx="10432370" cy="132695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970371F-0CDD-6EFE-B1EB-C1EAF044A51F}"/>
              </a:ext>
            </a:extLst>
          </p:cNvPr>
          <p:cNvSpPr/>
          <p:nvPr/>
        </p:nvSpPr>
        <p:spPr>
          <a:xfrm>
            <a:off x="5943600" y="2268794"/>
            <a:ext cx="5638800" cy="107848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33526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0A38-412B-DBB2-B2E6-8B0900B3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E93AB05-BCEC-5D03-837B-7C6FD4ED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10C487CA-FA01-F5FE-16D1-C33CBD09FA1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04.32bit_register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750E7C3-3B50-3C34-247C-8A719977C6DD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0295CE-92EB-6293-5924-FA340475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18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A8F3C-3AA9-1703-4BA0-44AE6448CC6A}"/>
              </a:ext>
            </a:extLst>
          </p:cNvPr>
          <p:cNvSpPr txBox="1"/>
          <p:nvPr/>
        </p:nvSpPr>
        <p:spPr>
          <a:xfrm>
            <a:off x="1752600" y="1714453"/>
            <a:ext cx="4876800" cy="41088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module register_32bit(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in,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out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input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input [31:0] in;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output [31:0] out;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reg [31:0] b;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always@(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or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negedge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if (!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    b &lt;= 32'h0000_0000;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else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    b &lt;= in;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assign out = b;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endParaRPr lang="en-US" altLang="ko-KR" sz="9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114EB-2436-3456-F857-46C9391B23AA}"/>
              </a:ext>
            </a:extLst>
          </p:cNvPr>
          <p:cNvSpPr txBox="1"/>
          <p:nvPr/>
        </p:nvSpPr>
        <p:spPr>
          <a:xfrm>
            <a:off x="1981200" y="586137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BE649-6B11-B714-AFB1-BAF9619C4D2C}"/>
              </a:ext>
            </a:extLst>
          </p:cNvPr>
          <p:cNvSpPr txBox="1"/>
          <p:nvPr/>
        </p:nvSpPr>
        <p:spPr>
          <a:xfrm>
            <a:off x="7620000" y="3221768"/>
            <a:ext cx="4191000" cy="6001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Consolas" panose="020B0609020204030204" pitchFamily="49" charset="0"/>
              </a:rPr>
              <a:t>레지스터 </a:t>
            </a:r>
            <a:r>
              <a:rPr lang="en-US" altLang="ko-KR" sz="1100" dirty="0">
                <a:latin typeface="Consolas" panose="020B0609020204030204" pitchFamily="49" charset="0"/>
              </a:rPr>
              <a:t>RTL </a:t>
            </a:r>
            <a:r>
              <a:rPr lang="ko-KR" altLang="en-US" sz="1100" dirty="0">
                <a:latin typeface="Consolas" panose="020B0609020204030204" pitchFamily="49" charset="0"/>
              </a:rPr>
              <a:t>코드이다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en-US" altLang="ko-KR" sz="1100" dirty="0" err="1">
                <a:latin typeface="Consolas" panose="020B0609020204030204" pitchFamily="49" charset="0"/>
              </a:rPr>
              <a:t>Clk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이 </a:t>
            </a:r>
            <a:r>
              <a:rPr lang="en-US" altLang="ko-KR" sz="1100" dirty="0">
                <a:latin typeface="Consolas" panose="020B0609020204030204" pitchFamily="49" charset="0"/>
              </a:rPr>
              <a:t>1</a:t>
            </a:r>
            <a:r>
              <a:rPr lang="ko-KR" altLang="en-US" sz="1100" dirty="0">
                <a:latin typeface="Consolas" panose="020B0609020204030204" pitchFamily="49" charset="0"/>
              </a:rPr>
              <a:t>이 </a:t>
            </a:r>
            <a:r>
              <a:rPr lang="ko-KR" altLang="en-US" sz="1100" dirty="0" err="1">
                <a:latin typeface="Consolas" panose="020B0609020204030204" pitchFamily="49" charset="0"/>
              </a:rPr>
              <a:t>될때마다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latin typeface="Consolas" panose="020B0609020204030204" pitchFamily="49" charset="0"/>
              </a:rPr>
              <a:t>B </a:t>
            </a:r>
            <a:r>
              <a:rPr lang="ko-KR" altLang="en-US" sz="1100" dirty="0">
                <a:latin typeface="Consolas" panose="020B0609020204030204" pitchFamily="49" charset="0"/>
              </a:rPr>
              <a:t>에 </a:t>
            </a:r>
            <a:r>
              <a:rPr lang="ko-KR" altLang="en-US" sz="1100" dirty="0" err="1">
                <a:latin typeface="Consolas" panose="020B0609020204030204" pitchFamily="49" charset="0"/>
              </a:rPr>
              <a:t>입력값인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latin typeface="Consolas" panose="020B0609020204030204" pitchFamily="49" charset="0"/>
              </a:rPr>
              <a:t>in </a:t>
            </a:r>
            <a:r>
              <a:rPr lang="ko-KR" altLang="en-US" sz="1100" dirty="0">
                <a:latin typeface="Consolas" panose="020B0609020204030204" pitchFamily="49" charset="0"/>
              </a:rPr>
              <a:t>이 들어가게 되고 이 </a:t>
            </a:r>
            <a:r>
              <a:rPr lang="en-US" altLang="ko-KR" sz="1100" dirty="0">
                <a:latin typeface="Consolas" panose="020B0609020204030204" pitchFamily="49" charset="0"/>
              </a:rPr>
              <a:t>B </a:t>
            </a:r>
            <a:r>
              <a:rPr lang="ko-KR" altLang="en-US" sz="1100" dirty="0">
                <a:latin typeface="Consolas" panose="020B0609020204030204" pitchFamily="49" charset="0"/>
              </a:rPr>
              <a:t>는 다시 </a:t>
            </a:r>
            <a:r>
              <a:rPr lang="en-US" altLang="ko-KR" sz="1100" dirty="0">
                <a:latin typeface="Consolas" panose="020B0609020204030204" pitchFamily="49" charset="0"/>
              </a:rPr>
              <a:t>out </a:t>
            </a:r>
            <a:r>
              <a:rPr lang="ko-KR" altLang="en-US" sz="1100" dirty="0">
                <a:latin typeface="Consolas" panose="020B0609020204030204" pitchFamily="49" charset="0"/>
              </a:rPr>
              <a:t>으로 들어간다</a:t>
            </a:r>
            <a:endParaRPr lang="en-US" altLang="ko-KR" sz="11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5EE15-C656-07AE-2DFA-1BA011D84133}"/>
              </a:ext>
            </a:extLst>
          </p:cNvPr>
          <p:cNvSpPr txBox="1"/>
          <p:nvPr/>
        </p:nvSpPr>
        <p:spPr>
          <a:xfrm>
            <a:off x="6781800" y="58244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Comment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039871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5E96-4655-9671-039C-EF4D7327D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96861A9-8600-F3FB-4CA8-DEB7828E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43A1239-A8BA-16B0-1F67-5F43C7241F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04.32bit_register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6E65641-1743-E9B7-2DEE-91FD3793F12D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9494D6-F965-B6C3-A2CE-C47C37E8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48267-3B75-1D82-02F7-0A80EB4EE86A}"/>
              </a:ext>
            </a:extLst>
          </p:cNvPr>
          <p:cNvSpPr txBox="1"/>
          <p:nvPr/>
        </p:nvSpPr>
        <p:spPr>
          <a:xfrm>
            <a:off x="1752600" y="1663881"/>
            <a:ext cx="4652264" cy="4401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module testbench;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[31:0] in;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wire [31:0] out;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register_32bit u_register_32bit(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.in(in),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.out(out)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);</a:t>
            </a:r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testbench.fsdb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#10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~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#7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wait(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== 1'b1);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#1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32'd2;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32'd5;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32'd25;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32'd100;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32'd15520;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in = 32'd60000;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 Put your testbench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 Example 10 cases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#30 $finish;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BAAA1-DD80-462A-F8A2-1C5F2385659A}"/>
              </a:ext>
            </a:extLst>
          </p:cNvPr>
          <p:cNvSpPr txBox="1"/>
          <p:nvPr/>
        </p:nvSpPr>
        <p:spPr>
          <a:xfrm>
            <a:off x="1981200" y="6018231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Testbench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A62A1-3DDC-63B8-D050-4D93AAA5A96A}"/>
              </a:ext>
            </a:extLst>
          </p:cNvPr>
          <p:cNvSpPr txBox="1"/>
          <p:nvPr/>
        </p:nvSpPr>
        <p:spPr>
          <a:xfrm>
            <a:off x="7734300" y="3180030"/>
            <a:ext cx="4191000" cy="9387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Timescale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1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ns/100ps 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로 설정하였다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#10 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마다 </a:t>
            </a:r>
            <a:r>
              <a:rPr lang="en-US" altLang="ko-KR" sz="1100" dirty="0" err="1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clk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가 반전되게 만들었다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 err="1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N_rst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가 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이 </a:t>
            </a:r>
            <a:r>
              <a:rPr lang="ko-KR" altLang="en-US" sz="1100" dirty="0" err="1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될때까지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100" dirty="0" err="1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시다리다가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 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값이 들어가게 만들었다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이 신호가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fsdb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파일에 </a:t>
            </a:r>
            <a:r>
              <a:rPr lang="ko-KR" altLang="en-US" sz="1100" dirty="0" err="1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저장될수</a:t>
            </a:r>
            <a:r>
              <a:rPr lang="ko-KR" altLang="en-US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있게 하였다</a:t>
            </a:r>
            <a:r>
              <a:rPr lang="en-US" altLang="ko-KR" sz="1100" dirty="0">
                <a:solidFill>
                  <a:prstClr val="black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56BB3-D536-55DF-BEEA-7D8523CA5DE2}"/>
              </a:ext>
            </a:extLst>
          </p:cNvPr>
          <p:cNvSpPr txBox="1"/>
          <p:nvPr/>
        </p:nvSpPr>
        <p:spPr>
          <a:xfrm>
            <a:off x="6553200" y="59929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930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E635-56E8-8402-BFE3-DA03EE13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46D5642-918E-1DA4-4425-A0D642D2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04B7D40E-8EC9-6117-7FFD-6B5E21551F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04.32bit_register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49E7B807-998B-D468-6AE0-8940FC397E9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425CB8-EC86-49A3-EA9A-42A9C4AB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B3DD6-C54F-4373-8A09-78E634F6ADA8}"/>
              </a:ext>
            </a:extLst>
          </p:cNvPr>
          <p:cNvSpPr txBox="1"/>
          <p:nvPr/>
        </p:nvSpPr>
        <p:spPr>
          <a:xfrm>
            <a:off x="2971800" y="2207576"/>
            <a:ext cx="7239000" cy="212365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// Put your testbench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32'h00000000;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32'hFFFFFFFF;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32'h01ADEBC8;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32'h93AB6231;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32'h233DED09;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32'd128;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32'd256;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32'd512;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32'd1024;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in = 32'd2048;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// Example 10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989C1-A7A1-26BD-A631-58A061F22122}"/>
              </a:ext>
            </a:extLst>
          </p:cNvPr>
          <p:cNvSpPr txBox="1"/>
          <p:nvPr/>
        </p:nvSpPr>
        <p:spPr>
          <a:xfrm>
            <a:off x="4305300" y="596981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Testbench factor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8183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0FB5-A5FA-3026-6B86-848EA23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8E3A4D5-6F41-4E84-C484-C1050385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DF08B34E-018B-FEC3-EE00-DD363E0269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04.32bit_register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62193CF-8806-A072-921C-D5586FCCD40B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97BC05-B486-3C83-180D-7889A05C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F07B7-4335-3E02-1850-2679A0C90DA8}"/>
              </a:ext>
            </a:extLst>
          </p:cNvPr>
          <p:cNvSpPr txBox="1"/>
          <p:nvPr/>
        </p:nvSpPr>
        <p:spPr>
          <a:xfrm>
            <a:off x="1371600" y="4267200"/>
            <a:ext cx="101275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레지스터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RTL code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clk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따라 동작하기 때문에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clk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이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posedge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될때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out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값이 변화하고 있다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또한 테스트 벤치에서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clk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negedge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일때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in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값을 변화시켰기 때문에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negedge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마다 값이 변한다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B0B1C8-3B85-08B9-94DC-D92382539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0030" y="2214053"/>
            <a:ext cx="10432370" cy="124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9562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FE7F-484F-406B-1A42-B09E0701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000F0F8-4718-3FA8-2C21-B8E10558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A9CFBE7-30F0-1AEB-1712-505D9094D5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05.32bit_register_file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792A51CE-C610-7AB6-73E4-FE8A084073D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28F4FCA-9A38-9767-243F-7E1E800D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5229B-5586-BCA1-1486-05245F9A491F}"/>
              </a:ext>
            </a:extLst>
          </p:cNvPr>
          <p:cNvSpPr txBox="1"/>
          <p:nvPr/>
        </p:nvSpPr>
        <p:spPr>
          <a:xfrm>
            <a:off x="1752600" y="1714453"/>
            <a:ext cx="4876800" cy="42934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module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register_file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rs1,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rs2,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rs1_data,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rs2_data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[4:0] rs1, rs2,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[31:0]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output [31:0] rs1_data, rs2_data;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[31:0] mem[31:0];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integer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for 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=0;i&lt;32;i=i+1)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mem[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] = 32'h0000_0000;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//write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always@(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if 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mem[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] &lt;=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//read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assign rs1_data = (rs1 == 5'h0) ? 32'h0 : mem[rs1];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assign rs2_data = (rs2 == 5'h0) ? 32'h0 : mem[rs2];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7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2B104-2A59-C297-7F51-15AA688C0CED}"/>
              </a:ext>
            </a:extLst>
          </p:cNvPr>
          <p:cNvSpPr txBox="1"/>
          <p:nvPr/>
        </p:nvSpPr>
        <p:spPr>
          <a:xfrm>
            <a:off x="2113083" y="602266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C0F55-FF7F-071F-5067-E72317045BA1}"/>
              </a:ext>
            </a:extLst>
          </p:cNvPr>
          <p:cNvSpPr txBox="1"/>
          <p:nvPr/>
        </p:nvSpPr>
        <p:spPr>
          <a:xfrm>
            <a:off x="7620000" y="3221768"/>
            <a:ext cx="4191000" cy="110799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Consolas" panose="020B0609020204030204" pitchFamily="49" charset="0"/>
              </a:rPr>
              <a:t>레지스터 파일의 읽기 쓰기 기능을 수행할 수 있는 모듈이다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32</a:t>
            </a:r>
            <a:r>
              <a:rPr lang="ko-KR" altLang="en-US" sz="1100" dirty="0">
                <a:latin typeface="Consolas" panose="020B0609020204030204" pitchFamily="49" charset="0"/>
              </a:rPr>
              <a:t>비트 레지스터가 </a:t>
            </a:r>
            <a:r>
              <a:rPr lang="en-US" altLang="ko-KR" sz="1100" dirty="0">
                <a:latin typeface="Consolas" panose="020B0609020204030204" pitchFamily="49" charset="0"/>
              </a:rPr>
              <a:t>32</a:t>
            </a:r>
            <a:r>
              <a:rPr lang="ko-KR" altLang="en-US" sz="1100" dirty="0">
                <a:latin typeface="Consolas" panose="020B0609020204030204" pitchFamily="49" charset="0"/>
              </a:rPr>
              <a:t>개 존재한다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en-US" altLang="ko-KR" sz="1100" dirty="0" err="1">
                <a:latin typeface="Consolas" panose="020B0609020204030204" pitchFamily="49" charset="0"/>
              </a:rPr>
              <a:t>Write_enable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신호가 들어올 때 마다 </a:t>
            </a:r>
            <a:r>
              <a:rPr lang="en-US" altLang="ko-KR" sz="1100" dirty="0" err="1">
                <a:latin typeface="Consolas" panose="020B0609020204030204" pitchFamily="49" charset="0"/>
              </a:rPr>
              <a:t>rd_data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라는 </a:t>
            </a:r>
            <a:r>
              <a:rPr lang="en-US" altLang="ko-KR" sz="1100" dirty="0">
                <a:latin typeface="Consolas" panose="020B0609020204030204" pitchFamily="49" charset="0"/>
              </a:rPr>
              <a:t>32</a:t>
            </a:r>
            <a:r>
              <a:rPr lang="ko-KR" altLang="en-US" sz="1100" dirty="0">
                <a:latin typeface="Consolas" panose="020B0609020204030204" pitchFamily="49" charset="0"/>
              </a:rPr>
              <a:t>비트 </a:t>
            </a:r>
            <a:r>
              <a:rPr lang="ko-KR" altLang="en-US" sz="1100" dirty="0" err="1">
                <a:latin typeface="Consolas" panose="020B0609020204030204" pitchFamily="49" charset="0"/>
              </a:rPr>
              <a:t>입력값이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latin typeface="Consolas" panose="020B0609020204030204" pitchFamily="49" charset="0"/>
              </a:rPr>
              <a:t>mem </a:t>
            </a:r>
            <a:r>
              <a:rPr lang="ko-KR" altLang="en-US" sz="1100" dirty="0">
                <a:latin typeface="Consolas" panose="020B0609020204030204" pitchFamily="49" charset="0"/>
              </a:rPr>
              <a:t>이라는 레지스터 스택의 </a:t>
            </a:r>
            <a:r>
              <a:rPr lang="en-US" altLang="ko-KR" sz="1100" dirty="0">
                <a:latin typeface="Consolas" panose="020B0609020204030204" pitchFamily="49" charset="0"/>
              </a:rPr>
              <a:t>offset </a:t>
            </a:r>
            <a:r>
              <a:rPr lang="en-US" altLang="ko-KR" sz="1100" dirty="0" err="1">
                <a:latin typeface="Consolas" panose="020B0609020204030204" pitchFamily="49" charset="0"/>
              </a:rPr>
              <a:t>rd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의 위치에 저장된다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값을 읽어오는 동작은 </a:t>
            </a:r>
            <a:r>
              <a:rPr lang="en-US" altLang="ko-KR" sz="1100" dirty="0">
                <a:latin typeface="Consolas" panose="020B0609020204030204" pitchFamily="49" charset="0"/>
              </a:rPr>
              <a:t>rs1 </a:t>
            </a:r>
            <a:r>
              <a:rPr lang="ko-KR" altLang="en-US" sz="1100" dirty="0">
                <a:latin typeface="Consolas" panose="020B0609020204030204" pitchFamily="49" charset="0"/>
              </a:rPr>
              <a:t>과 </a:t>
            </a:r>
            <a:r>
              <a:rPr lang="en-US" altLang="ko-KR" sz="1100" dirty="0">
                <a:latin typeface="Consolas" panose="020B0609020204030204" pitchFamily="49" charset="0"/>
              </a:rPr>
              <a:t>rs2 </a:t>
            </a:r>
            <a:r>
              <a:rPr lang="ko-KR" altLang="en-US" sz="1100" dirty="0">
                <a:latin typeface="Consolas" panose="020B0609020204030204" pitchFamily="49" charset="0"/>
              </a:rPr>
              <a:t>동작을 통해서 </a:t>
            </a:r>
            <a:r>
              <a:rPr lang="en-US" altLang="ko-KR" sz="1100" dirty="0">
                <a:latin typeface="Consolas" panose="020B0609020204030204" pitchFamily="49" charset="0"/>
              </a:rPr>
              <a:t>rs1_data </a:t>
            </a:r>
            <a:r>
              <a:rPr lang="ko-KR" altLang="en-US" sz="1100" dirty="0">
                <a:latin typeface="Consolas" panose="020B0609020204030204" pitchFamily="49" charset="0"/>
              </a:rPr>
              <a:t>와 </a:t>
            </a:r>
            <a:r>
              <a:rPr lang="en-US" altLang="ko-KR" sz="1100" dirty="0">
                <a:latin typeface="Consolas" panose="020B0609020204030204" pitchFamily="49" charset="0"/>
              </a:rPr>
              <a:t>rs2_data </a:t>
            </a:r>
            <a:r>
              <a:rPr lang="ko-KR" altLang="en-US" sz="1100" dirty="0">
                <a:latin typeface="Consolas" panose="020B0609020204030204" pitchFamily="49" charset="0"/>
              </a:rPr>
              <a:t>를 제어한다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11AC8-492D-E1BC-D8A0-EAFDCBB25119}"/>
              </a:ext>
            </a:extLst>
          </p:cNvPr>
          <p:cNvSpPr txBox="1"/>
          <p:nvPr/>
        </p:nvSpPr>
        <p:spPr>
          <a:xfrm>
            <a:off x="6781800" y="58244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Comment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335718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781E-37D6-F884-2EF0-5B87C839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5DB1934-02A2-B9BD-A631-7CB68E75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8ACDBD3-F497-8D83-3A40-1DD69318FA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05.32bit_register_file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0F0C5A5A-45D3-D675-1A00-CEEC9BB7293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C5DCA4-A369-46E2-5F2D-CC86528C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3FC86-AA1F-71F0-C227-94DC13CF7360}"/>
              </a:ext>
            </a:extLst>
          </p:cNvPr>
          <p:cNvSpPr txBox="1"/>
          <p:nvPr/>
        </p:nvSpPr>
        <p:spPr>
          <a:xfrm>
            <a:off x="2362200" y="1785155"/>
            <a:ext cx="3733800" cy="39087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`timescale 1ns/100ps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module testbench;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reg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n_rst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reg [4:0] rs1, rs2,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reg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wire [31:0] rs1_data, rs2_data;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register_file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u_register_file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.rs1(rs1),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.rs2(rs2),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.rs1_data(rs1_data),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.rs2_data(rs2_data)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testbench.fsdb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always #10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~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55ABB-06C5-BDD1-B021-2FA1DF16FC91}"/>
              </a:ext>
            </a:extLst>
          </p:cNvPr>
          <p:cNvSpPr txBox="1"/>
          <p:nvPr/>
        </p:nvSpPr>
        <p:spPr>
          <a:xfrm>
            <a:off x="4038600" y="590790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Testbench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6B9B3-3EB9-2534-F3DC-73BD391A8B36}"/>
              </a:ext>
            </a:extLst>
          </p:cNvPr>
          <p:cNvSpPr txBox="1"/>
          <p:nvPr/>
        </p:nvSpPr>
        <p:spPr>
          <a:xfrm>
            <a:off x="6096000" y="1654989"/>
            <a:ext cx="4191000" cy="427809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//write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5'h5;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32'h12345678;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5'h5;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32'h12345678;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5'ha;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32'h1234;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5'ha;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32'h1234;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5'h1;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32'h5678;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5'h1;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32'h5678;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//read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rs1 = 5'h3; rs2 = 5'h4;  // no data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rs1 = 5'h5; rs2 = 5'ha;  // data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rs1 = 5'h9; rs2 = 5'h7;  // no data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rs1 = 5'h1; rs2 = 5'h5;  // data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rs1 = 5'h2; rs2 = 5'h3;  // no data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rs1 = 5'ha; rs2 = 5'h1;  // data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Put your testbench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Example 10 cases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#30 $finish;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80549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BD85-7E39-AA11-4F46-D1584EF1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05248A9-046E-F40F-CBC7-9B48E4EF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7A4E9B7-B93F-B5EF-4572-F1A3F4CF66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05.32bit_register_file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F0C8002-902A-D3A2-8B40-836BFBFA8A20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F1B104-5628-C664-3599-3552AE3F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F0283-F4BE-4E87-5059-33AAA2E78B43}"/>
              </a:ext>
            </a:extLst>
          </p:cNvPr>
          <p:cNvSpPr txBox="1"/>
          <p:nvPr/>
        </p:nvSpPr>
        <p:spPr>
          <a:xfrm>
            <a:off x="2476500" y="2282532"/>
            <a:ext cx="7239000" cy="22929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// Put your testbench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5'hd;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32'hFFFFFFFF;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1'b1;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5'hd;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32'h00000000;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5'he;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32'h00000000;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1'b1;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5'he;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32'hFFFFFFFF;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write_enable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1'b0;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5'h1;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rd_data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= 32'hF0F0F0F0;</a:t>
            </a:r>
          </a:p>
          <a:p>
            <a:br>
              <a:rPr lang="en-US" altLang="ko-KR" sz="1100" b="0" dirty="0"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rs1 = 5'he; rs2 = 5'h1;  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rs1 = 5'h5; rs2 = 5'h2;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rs1 = 5'ha; rs2 = 5'h8;  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rs1 = 5'he; rs2 = 5'ha;  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@(posedge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) rs1 = 5'h1; rs2 = 5'hf; </a:t>
            </a:r>
          </a:p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        // Example 10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C8F8D-C06F-1D18-9A3A-12783F6C058C}"/>
              </a:ext>
            </a:extLst>
          </p:cNvPr>
          <p:cNvSpPr txBox="1"/>
          <p:nvPr/>
        </p:nvSpPr>
        <p:spPr>
          <a:xfrm>
            <a:off x="4305300" y="596981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Testbench factor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85757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2E11-3F0D-77EC-E2C4-3248F794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95F4FBA-E23A-D1F3-3F04-18381F8A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B9D38971-5CF6-1070-AAFE-55F4893EBFA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05.32bit_register_file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7968AC87-90FD-CC50-FF01-C282F203CB6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FE8121-C61F-863F-A20D-F0BBA6AB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66C87-8950-BA69-AD8D-964CB0A50258}"/>
              </a:ext>
            </a:extLst>
          </p:cNvPr>
          <p:cNvSpPr txBox="1"/>
          <p:nvPr/>
        </p:nvSpPr>
        <p:spPr>
          <a:xfrm>
            <a:off x="1049434" y="4098389"/>
            <a:ext cx="937181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테스트 벤치의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factor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는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posedge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clk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에 동작하는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rd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관한 값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개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negedge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동작하는 값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개로 설정했다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Rd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의 값을 변환시켜주면서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Rd_data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mem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넣어주는 과정과 동시에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이미 입력되었던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write_enable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값은</a:t>
            </a:r>
            <a:endParaRPr lang="en-US" altLang="ko-KR" sz="14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바뀌지 않기 때문에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enable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신호가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들어오면 레지스터 파일에서 데이터를 읽어올 수 있게 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값을 넣어주는 부분이 끝나면 이제 값을 읽어오는 부분이 실행되는데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rs1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경우엔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,mem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e,5,a,e,1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위치한 값을 불러오기 때문에 각각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1234_5678, 1234,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ffff_ffff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5678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값이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rs1_data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저장될 것 이라고 예측할 수 있었고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rs2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경우엔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mem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1,2,8,a,f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에 위치한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5678,0,0,1234,0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값이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rs2_data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저장될 것이라고 예상할  수 있었다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2,8,f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경우에는 따로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rd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통해 입력해주지 않았다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따라서 프로그램이 처음 실행 될 때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mem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모든 값들을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으로 초기화 하였기 때문에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출력되었다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A3CB1F-BD85-8747-D470-102117981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434" y="2133601"/>
            <a:ext cx="10532966" cy="162347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F30550F-1149-49FA-C672-57E5629AC796}"/>
              </a:ext>
            </a:extLst>
          </p:cNvPr>
          <p:cNvSpPr/>
          <p:nvPr/>
        </p:nvSpPr>
        <p:spPr>
          <a:xfrm>
            <a:off x="6315917" y="2285999"/>
            <a:ext cx="5266483" cy="147107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03386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E13D-08D4-22B7-8973-FEF8B03B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F7D0AE0-F0A2-88BE-067C-51536B7E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53BDB0C9-3C3C-FC8F-D0CA-1873685596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06.ASYNC_RAM_DP_WBE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70C271B8-DC39-BB65-7A19-A7C5CE264A9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F59215-E8E5-46D7-D777-E47DC2F2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26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ABAB2-729E-BCEB-063D-A207DBE17931}"/>
              </a:ext>
            </a:extLst>
          </p:cNvPr>
          <p:cNvSpPr txBox="1"/>
          <p:nvPr/>
        </p:nvSpPr>
        <p:spPr>
          <a:xfrm>
            <a:off x="1963993" y="1694764"/>
            <a:ext cx="4876800" cy="42934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`timescale 1ns/1ns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// Dual-port RAM with asynchronous read,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syncronous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write with byte-enable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module ASYNC_RAM_DP_WBE (q0, d0, addr0, wen0, wbe0, q1, d1, addr1, wen1, wbe1,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parameter DWIDTH = 8;             // Data width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parameter AWIDTH = 14;             // Address width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parameter DEPTH  = (1 &lt;&lt; AWIDTH); // Memory depth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parameter MIF_HEX = "";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parameter MIF_BIN = "";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[DWIDTH-1:0]   d0;    // Data input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[AWIDTH-1:0]   addr0; // Address input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[DWIDTH/8-1:0] wbe0;  // write-byte-enable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               wen0;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output [DWIDTH-1:0]  q0;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[DWIDTH-1:0]   d1;    // Data input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[AWIDTH-1:0]   addr1; // Address input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[DWIDTH/8-1:0] wbe1;  // write-byte-enable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input                wen1;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output [DWIDTH-1:0]  q1;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(*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ram_style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"block" *) reg [DWIDTH-1:0] mem [0:DEPTH-1];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integer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if (MIF_HEX != "")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$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readmemh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(MIF_HEX, mem);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else if (MIF_BIN != "")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$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readmemb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(MIF_BIN, mem);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else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for 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&lt; DEPTH;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+ 1)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mem[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] = 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DC228-784C-AF78-ACD7-5D0C53F1AEDF}"/>
              </a:ext>
            </a:extLst>
          </p:cNvPr>
          <p:cNvSpPr txBox="1"/>
          <p:nvPr/>
        </p:nvSpPr>
        <p:spPr>
          <a:xfrm>
            <a:off x="4191000" y="599537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F4141-3ACE-0465-FD41-9617C1459E8C}"/>
              </a:ext>
            </a:extLst>
          </p:cNvPr>
          <p:cNvSpPr txBox="1"/>
          <p:nvPr/>
        </p:nvSpPr>
        <p:spPr>
          <a:xfrm>
            <a:off x="6840793" y="1694764"/>
            <a:ext cx="4191000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reg [DWIDTH-1:0] read_data0_reg;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reg [DWIDTH-1:0] read_data1_reg;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always @(posedge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(wen0)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for 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&lt; 4;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i+1)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if (wbe0[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  mem[addr0][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*8 +: 8] &lt;= d0[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*8 +: 8];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end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read_data0_reg &lt;= mem[addr0];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end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always @(posedge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(wen1)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for 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&lt; 4;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i+1) begin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if (wbe1[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  mem[addr1][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*8 +: 8] &lt;= d1[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*8 +: 8];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read_data1_reg &lt;= mem[addr1];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end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assign q0 = mem[addr0];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assign q1 = mem[addr1];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//assign q0 = read_data0_reg;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//assign q1 = read_data1_reg;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3568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4F0E-E1F4-96FE-B0F8-895B831C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4866BB5-5533-7138-0923-C8F44095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F5C7D354-34CA-8C4F-A2FC-26D4CE26D0C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06.ASYNC_RAM_DP_WBE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61109E8-5125-F8F3-836A-479FC017069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C8266B-62FC-4604-8F97-ED738D9E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27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35390-8662-A55C-8508-EF1963E5727C}"/>
              </a:ext>
            </a:extLst>
          </p:cNvPr>
          <p:cNvSpPr txBox="1"/>
          <p:nvPr/>
        </p:nvSpPr>
        <p:spPr>
          <a:xfrm>
            <a:off x="762000" y="1678715"/>
            <a:ext cx="2696464" cy="427809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`timescale 1ns/1ns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`include 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mem_path.vh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module testbench();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parameter DWIDTH = 32;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parameter AWIDTH = 12;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localparam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TIMEOUT_CYCLE = 100_000;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[11:0]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[11:0]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[3:0]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wire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imem_inst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wire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read_imem_data_mem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ASYNC_RAM_DP_WBE #(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.DWIDTH (DWIDTH),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.AWIDTH (AWIDTH),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.MIF_HEX ("")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 mem 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 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.addr0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.addr1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.wbe0     (4'd0),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.wbe1    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.d0       (32'd0),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.d1      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.wen0     (1'b0),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.wen1    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.q0      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imem_inst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.q1      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read_imem_data_mem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4433F-E176-D3EE-0E29-3AB1A4DFABAE}"/>
              </a:ext>
            </a:extLst>
          </p:cNvPr>
          <p:cNvSpPr txBox="1"/>
          <p:nvPr/>
        </p:nvSpPr>
        <p:spPr>
          <a:xfrm>
            <a:off x="4191000" y="599537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Testbench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698E-9920-8C89-A906-256462482E14}"/>
              </a:ext>
            </a:extLst>
          </p:cNvPr>
          <p:cNvSpPr txBox="1"/>
          <p:nvPr/>
        </p:nvSpPr>
        <p:spPr>
          <a:xfrm>
            <a:off x="3458464" y="1655453"/>
            <a:ext cx="3288890" cy="42934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#1;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readmemh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code.hex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", `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MEM_PATH.mem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 0, 16384-1);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#(10)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~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[255:0] MIF_FILE;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//IM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//DM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12'd0;                  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initial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//IM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12'd5;                  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12'd10;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12'd20;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12'd30;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//DM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endParaRPr lang="en-US" altLang="ko-KR" sz="700" dirty="0">
              <a:latin typeface="Consolas" panose="020B0609020204030204" pitchFamily="49" charset="0"/>
            </a:endParaRPr>
          </a:p>
          <a:p>
            <a:endParaRPr lang="en-US" altLang="ko-KR" sz="700" b="0" dirty="0">
              <a:effectLst/>
              <a:latin typeface="Consolas" panose="020B0609020204030204" pitchFamily="49" charset="0"/>
            </a:endParaRPr>
          </a:p>
          <a:p>
            <a:endParaRPr lang="en-US" altLang="ko-KR" sz="700" dirty="0">
              <a:latin typeface="Consolas" panose="020B0609020204030204" pitchFamily="49" charset="0"/>
            </a:endParaRPr>
          </a:p>
          <a:p>
            <a:endParaRPr lang="en-US" altLang="ko-KR" sz="700" b="0" dirty="0">
              <a:effectLst/>
              <a:latin typeface="Consolas" panose="020B0609020204030204" pitchFamily="49" charset="0"/>
            </a:endParaRPr>
          </a:p>
          <a:p>
            <a:endParaRPr lang="en-US" altLang="ko-KR" sz="700" b="0" dirty="0">
              <a:effectLst/>
              <a:latin typeface="Consolas" panose="020B0609020204030204" pitchFamily="49" charset="0"/>
            </a:endParaRPr>
          </a:p>
          <a:p>
            <a:endParaRPr lang="en-US" altLang="ko-KR" sz="7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09486-F8CD-AB30-674C-0C4D994E9F07}"/>
              </a:ext>
            </a:extLst>
          </p:cNvPr>
          <p:cNvSpPr txBox="1"/>
          <p:nvPr/>
        </p:nvSpPr>
        <p:spPr>
          <a:xfrm>
            <a:off x="6747354" y="1655453"/>
            <a:ext cx="3288890" cy="39087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Put your testbench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Example 10 cases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repeat (2)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$finish;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repeat (TIMEOUT_CYCLE)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$display("Timeout!");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$finish();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wave.fsdb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endmodule</a:t>
            </a:r>
            <a:br>
              <a:rPr lang="en-US" altLang="ko-K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9442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8FEE-2350-8EDE-220B-8233E84C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553E595-1ADA-4C8E-2E62-CC45FBAA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6DE33BD-81D6-2477-4CD8-6BCB46FA44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06.ASYNC_RAM_DP_WBE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336982E-FC89-36C8-CD5E-95565196C5CD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301B33-76D7-315C-A114-E68D549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D9FB2-47DB-CA74-6302-2A9825B42571}"/>
              </a:ext>
            </a:extLst>
          </p:cNvPr>
          <p:cNvSpPr txBox="1"/>
          <p:nvPr/>
        </p:nvSpPr>
        <p:spPr>
          <a:xfrm>
            <a:off x="2667000" y="3254289"/>
            <a:ext cx="7239000" cy="6001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Consolas" panose="020B0609020204030204" pitchFamily="49" charset="0"/>
              </a:rPr>
              <a:t>이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모듈은 듀얼 포트 램 에 관한 모듈이다</a:t>
            </a:r>
            <a:r>
              <a:rPr lang="en-US" altLang="ko-KR" sz="1100" dirty="0">
                <a:latin typeface="Consolas" panose="020B0609020204030204" pitchFamily="49" charset="0"/>
              </a:rPr>
              <a:t>, </a:t>
            </a:r>
            <a:r>
              <a:rPr lang="ko-KR" altLang="en-US" sz="1100" dirty="0">
                <a:latin typeface="Consolas" panose="020B0609020204030204" pitchFamily="49" charset="0"/>
              </a:rPr>
              <a:t>비동기 신호에 </a:t>
            </a:r>
            <a:r>
              <a:rPr lang="en-US" altLang="ko-KR" sz="1100" dirty="0">
                <a:latin typeface="Consolas" panose="020B0609020204030204" pitchFamily="49" charset="0"/>
              </a:rPr>
              <a:t>read </a:t>
            </a:r>
            <a:r>
              <a:rPr lang="ko-KR" altLang="en-US" sz="1100" dirty="0">
                <a:latin typeface="Consolas" panose="020B0609020204030204" pitchFamily="49" charset="0"/>
              </a:rPr>
              <a:t>동작을 수행하고 동기 신호에 </a:t>
            </a:r>
            <a:r>
              <a:rPr lang="en-US" altLang="ko-KR" sz="1100" dirty="0">
                <a:latin typeface="Consolas" panose="020B0609020204030204" pitchFamily="49" charset="0"/>
              </a:rPr>
              <a:t>write </a:t>
            </a:r>
            <a:r>
              <a:rPr lang="ko-KR" altLang="en-US" sz="1100" dirty="0">
                <a:latin typeface="Consolas" panose="020B0609020204030204" pitchFamily="49" charset="0"/>
              </a:rPr>
              <a:t>동작을 수행 한다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두 포트 모두 </a:t>
            </a:r>
            <a:r>
              <a:rPr lang="en-US" altLang="ko-KR" sz="1100" dirty="0" err="1">
                <a:latin typeface="Consolas" panose="020B0609020204030204" pitchFamily="49" charset="0"/>
              </a:rPr>
              <a:t>posedge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latin typeface="Consolas" panose="020B0609020204030204" pitchFamily="49" charset="0"/>
              </a:rPr>
              <a:t>clk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에서 동작을 하고</a:t>
            </a:r>
            <a:r>
              <a:rPr lang="en-US" altLang="ko-KR" sz="1100" dirty="0">
                <a:latin typeface="Consolas" panose="020B0609020204030204" pitchFamily="49" charset="0"/>
              </a:rPr>
              <a:t>, </a:t>
            </a:r>
            <a:r>
              <a:rPr lang="ko-KR" altLang="en-US" sz="1100" dirty="0">
                <a:latin typeface="Consolas" panose="020B0609020204030204" pitchFamily="49" charset="0"/>
              </a:rPr>
              <a:t>쓰기 동작의 경우 </a:t>
            </a:r>
            <a:r>
              <a:rPr lang="en-US" altLang="ko-KR" sz="1100" dirty="0">
                <a:latin typeface="Consolas" panose="020B0609020204030204" pitchFamily="49" charset="0"/>
              </a:rPr>
              <a:t>wen0 </a:t>
            </a:r>
            <a:r>
              <a:rPr lang="ko-KR" altLang="en-US" sz="1100" dirty="0">
                <a:latin typeface="Consolas" panose="020B0609020204030204" pitchFamily="49" charset="0"/>
              </a:rPr>
              <a:t>신호가 </a:t>
            </a:r>
            <a:r>
              <a:rPr lang="en-US" altLang="ko-KR" sz="1100" dirty="0">
                <a:latin typeface="Consolas" panose="020B0609020204030204" pitchFamily="49" charset="0"/>
              </a:rPr>
              <a:t>1 </a:t>
            </a:r>
            <a:r>
              <a:rPr lang="ko-KR" altLang="en-US" sz="1100" dirty="0" err="1">
                <a:latin typeface="Consolas" panose="020B0609020204030204" pitchFamily="49" charset="0"/>
              </a:rPr>
              <a:t>일때만</a:t>
            </a:r>
            <a:r>
              <a:rPr lang="ko-KR" altLang="en-US" sz="1100" dirty="0">
                <a:latin typeface="Consolas" panose="020B0609020204030204" pitchFamily="49" charset="0"/>
              </a:rPr>
              <a:t> 동작한다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또한 </a:t>
            </a:r>
            <a:r>
              <a:rPr lang="en-US" altLang="ko-KR" sz="1100" dirty="0">
                <a:latin typeface="Consolas" panose="020B0609020204030204" pitchFamily="49" charset="0"/>
              </a:rPr>
              <a:t>Wbe0[</a:t>
            </a:r>
            <a:r>
              <a:rPr lang="en-US" altLang="ko-KR" sz="1100" dirty="0" err="1"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latin typeface="Consolas" panose="020B0609020204030204" pitchFamily="49" charset="0"/>
              </a:rPr>
              <a:t>]</a:t>
            </a:r>
            <a:r>
              <a:rPr lang="ko-KR" altLang="en-US" sz="1100" dirty="0">
                <a:latin typeface="Consolas" panose="020B0609020204030204" pitchFamily="49" charset="0"/>
              </a:rPr>
              <a:t> 가 </a:t>
            </a:r>
            <a:r>
              <a:rPr lang="en-US" altLang="ko-KR" sz="1100" dirty="0">
                <a:latin typeface="Consolas" panose="020B0609020204030204" pitchFamily="49" charset="0"/>
              </a:rPr>
              <a:t>1</a:t>
            </a:r>
            <a:r>
              <a:rPr lang="ko-KR" altLang="en-US" sz="1100" dirty="0">
                <a:latin typeface="Consolas" panose="020B0609020204030204" pitchFamily="49" charset="0"/>
              </a:rPr>
              <a:t>일 경우 </a:t>
            </a:r>
            <a:r>
              <a:rPr lang="en-US" altLang="ko-KR" sz="1100" dirty="0">
                <a:latin typeface="Consolas" panose="020B0609020204030204" pitchFamily="49" charset="0"/>
              </a:rPr>
              <a:t>memory</a:t>
            </a:r>
            <a:r>
              <a:rPr lang="ko-KR" altLang="en-US" sz="1100" dirty="0">
                <a:latin typeface="Consolas" panose="020B0609020204030204" pitchFamily="49" charset="0"/>
              </a:rPr>
              <a:t> 의 특정 주소에 </a:t>
            </a:r>
            <a:r>
              <a:rPr lang="en-US" altLang="ko-KR" sz="1100" dirty="0">
                <a:latin typeface="Consolas" panose="020B0609020204030204" pitchFamily="49" charset="0"/>
              </a:rPr>
              <a:t>d0 </a:t>
            </a:r>
            <a:r>
              <a:rPr lang="ko-KR" altLang="en-US" sz="1100" dirty="0">
                <a:latin typeface="Consolas" panose="020B0609020204030204" pitchFamily="49" charset="0"/>
              </a:rPr>
              <a:t>값의 일부가 </a:t>
            </a:r>
            <a:r>
              <a:rPr lang="en-US" altLang="ko-KR" sz="1100" dirty="0">
                <a:latin typeface="Consolas" panose="020B0609020204030204" pitchFamily="49" charset="0"/>
              </a:rPr>
              <a:t>memory</a:t>
            </a:r>
            <a:r>
              <a:rPr lang="ko-KR" altLang="en-US" sz="1100" dirty="0">
                <a:latin typeface="Consolas" panose="020B0609020204030204" pitchFamily="49" charset="0"/>
              </a:rPr>
              <a:t>에 작성된다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  <a:endParaRPr lang="en-US" altLang="ko-KR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DB689-AE58-A123-A449-B0FA3B79AE91}"/>
              </a:ext>
            </a:extLst>
          </p:cNvPr>
          <p:cNvSpPr txBox="1"/>
          <p:nvPr/>
        </p:nvSpPr>
        <p:spPr>
          <a:xfrm>
            <a:off x="4305300" y="409294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RTL 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20487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CAE2-961F-317D-56A5-95FB4CBCE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B9E3307-33FF-4319-2484-C4A9EA175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926F4F0-311B-F464-F3EF-20F5ADFB63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06.ASYNC_RAM_DP_WBE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21E7D9A-08BD-4CC8-250E-3900D2FAE6D7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A9B7FE-FB22-CFAC-DF20-8719A686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CA0FA-A74A-A597-AE98-E8C54C32256B}"/>
              </a:ext>
            </a:extLst>
          </p:cNvPr>
          <p:cNvSpPr txBox="1"/>
          <p:nvPr/>
        </p:nvSpPr>
        <p:spPr>
          <a:xfrm>
            <a:off x="1066800" y="4419600"/>
            <a:ext cx="93718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fetch-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addr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부터 시작해서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씩 증가시켜 메모리에 있는 값을 읽게 만들었다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Read_imem_data_mem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[31:0]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은 포트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출력으로 </a:t>
            </a:r>
            <a:r>
              <a:rPr lang="ko-KR" altLang="en-US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연결되어있다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읽기 동작의 경우 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data_addr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저장된 주소의 데이터를 읽어온다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19EFA5-657D-9167-46DA-6602B48EF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23" y="2090331"/>
            <a:ext cx="11529954" cy="180866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BACD42B-D5BC-0490-70ED-728CC67862F8}"/>
              </a:ext>
            </a:extLst>
          </p:cNvPr>
          <p:cNvSpPr/>
          <p:nvPr/>
        </p:nvSpPr>
        <p:spPr>
          <a:xfrm>
            <a:off x="6222177" y="2135552"/>
            <a:ext cx="5638800" cy="171966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56794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F18CB-C9EF-5064-11F6-DCC11032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93BC6D5-60D6-2B7E-93C6-AB1966FF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E28F99F9-E2C3-D68D-5BA4-5694E1E646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9B1CF1DB-C821-F02B-068E-92FAF5DD9FD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345D67-2DEB-1A80-E313-80EF9FE0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FE6FD-EFB5-5E1B-06D0-6160AF3AC873}"/>
              </a:ext>
            </a:extLst>
          </p:cNvPr>
          <p:cNvSpPr txBox="1"/>
          <p:nvPr/>
        </p:nvSpPr>
        <p:spPr>
          <a:xfrm>
            <a:off x="1963993" y="1694764"/>
            <a:ext cx="4876800" cy="45089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module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dualport_mem_synch_rw</a:t>
            </a:r>
            <a:endParaRPr lang="en-US" altLang="ko-KR" sz="7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#(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parameter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BYTE_WIDTH = 8,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ADDRESS_WIDTH = 12,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BYTES = 4,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DATA_WIDTH = BYTE_WIDTH * BYTES,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MIF_HEX = ""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[ADDRESS_WIDTH-1:0] addr1,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[ADDRESS_WIDTH-1:0] addr2,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[BYTES-1:0] be1,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[BYTES-1:0] be2,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[DATA_WIDTH-1:0] data_in1,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[DATA_WIDTH-1:0] data_in2,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input we1, we2,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output [DATA_WIDTH-1:0] data_out1,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output [DATA_WIDTH-1:0] data_out2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localparam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DEPTH = 1 &lt;&lt; ADDRESS_WIDTH;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 model the RAM with two dimensional packed array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[BYTES-1:0][BYTE_WIDTH-1:0] mem[DEPTH-1:0];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[DATA_WIDTH-1:0] data_reg1;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reg [DATA_WIDTH-1:0] data_reg2;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integer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if (MIF_HEX != "")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$display("MIF_HEX_PASS");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readmemh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(MIF_HEX, mem);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else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$display("MIF_HEX_FAIL, 0 initialize");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for 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&lt; DEPTH;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+ 1)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    mem[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] = 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97A87-87AB-844F-BA88-A1060731F1D6}"/>
              </a:ext>
            </a:extLst>
          </p:cNvPr>
          <p:cNvSpPr txBox="1"/>
          <p:nvPr/>
        </p:nvSpPr>
        <p:spPr>
          <a:xfrm>
            <a:off x="7096533" y="597229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RTL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BE91C-8B7A-DACE-5FCD-C51F15D9F943}"/>
              </a:ext>
            </a:extLst>
          </p:cNvPr>
          <p:cNvSpPr txBox="1"/>
          <p:nvPr/>
        </p:nvSpPr>
        <p:spPr>
          <a:xfrm>
            <a:off x="6840793" y="1364562"/>
            <a:ext cx="4191000" cy="45089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  // port A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always@(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if(we1)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 edit this code if using other than four bytes per word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if(be1[0]) mem[addr1][0] &lt;= data_in1[7:0];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if(be1[1]) mem[addr1][1] &lt;= data_in1[15:8];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if(be1[2]) mem[addr1][2] &lt;= data_in1[23:16];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if(be1[3]) mem[addr1][3] &lt;= data_in1[31:24];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 port B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always@(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if(we2)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 edit this code if using other than four bytes per word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if(be2[0]) mem[addr2][0] &lt;= data_in2[7:0];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if(be2[1]) mem[addr2][1] &lt;= data_in2[15:8];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if(be2[2]) mem[addr2][2] &lt;= data_in2[23:16];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if(be2[3]) mem[addr2][3] &lt;= data_in2[31:24];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//   assign data_reg1 = mem[addr1];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//   assign data_reg2 = mem[addr2];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@(posedge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data_reg1 &lt;= mem[addr1];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@(posedge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data_reg2 &lt;= mem[addr2];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assign data_out1 = data_reg1;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assign data_out2 = data_reg2;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7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12720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C2A2-91C8-B93A-FA92-8BE7FFEB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8BD6351-0F27-E05B-B29E-5649129E6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2ECED77-E84A-352B-D253-EDFE7D4D0DC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17A9DF30-130D-0C07-7422-516303454CD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F1D5CF-AECE-7FDD-B5B9-239EEA3E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59177-7CCE-5C5B-99F3-896B30AA55A6}"/>
              </a:ext>
            </a:extLst>
          </p:cNvPr>
          <p:cNvSpPr txBox="1"/>
          <p:nvPr/>
        </p:nvSpPr>
        <p:spPr>
          <a:xfrm>
            <a:off x="492256" y="1755755"/>
            <a:ext cx="3547222" cy="4401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`timescale 1ns/1ns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`include 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mem_path.vh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module testbench();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parameter DWIDTH = 32;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parameter AWIDTH = 12;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localparam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TIMEOUT_CYCLE = 100_000;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[11:0]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[11:0]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[3:0]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wire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imem_inst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wire [31:0]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read_imem_data_mem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dualport_mem_synch_rw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#(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.DATA_WIDTH (DWIDTH),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.ADDRESS_WIDTH (AWIDTH),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.MIF_HEX ("")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 mem (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 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.addr1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.addr2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.be1      (4'd0),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.be2  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.data_in1 (32'd0),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.data_in2 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.we1      (1'b0),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.we2        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.data_out1(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imem_inst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.data_out2(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read_imem_data_mem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AAB55-2AEF-30D7-BE8C-AEFC89EB28DB}"/>
              </a:ext>
            </a:extLst>
          </p:cNvPr>
          <p:cNvSpPr txBox="1"/>
          <p:nvPr/>
        </p:nvSpPr>
        <p:spPr>
          <a:xfrm>
            <a:off x="4153778" y="12192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testbench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DBF13-EA37-AD57-F81B-306C1AFBB0E4}"/>
              </a:ext>
            </a:extLst>
          </p:cNvPr>
          <p:cNvSpPr txBox="1"/>
          <p:nvPr/>
        </p:nvSpPr>
        <p:spPr>
          <a:xfrm>
            <a:off x="4039478" y="1658856"/>
            <a:ext cx="4191000" cy="46320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</a:t>
            </a:r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#1;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readmemh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code.hex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", `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MEM_PATH.mem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, 0, 16384-1);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$display("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code.hex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load done");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always #(10)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~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//IM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//DM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12'd0;                  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32'd0;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4'd0;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1'd0;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//IM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12'd5;                  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12'd10;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12'd20;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12'd30;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12'd40;                     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12'd50;                //DM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12'd10;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           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62CA5-0DD0-6C58-5812-ACD305564440}"/>
              </a:ext>
            </a:extLst>
          </p:cNvPr>
          <p:cNvSpPr txBox="1"/>
          <p:nvPr/>
        </p:nvSpPr>
        <p:spPr>
          <a:xfrm>
            <a:off x="8230478" y="821910"/>
            <a:ext cx="3547222" cy="600164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Consolas" panose="020B0609020204030204" pitchFamily="49" charset="0"/>
              </a:rPr>
              <a:t>    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12'd30;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12'd30;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12'd30;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4'b0011;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4'b0001;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Put your testbench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// Example 10 cases</a:t>
            </a:r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repeat (2)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    @(negedge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end</a:t>
            </a:r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$finish;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initial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#5 $display("////test start////");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initial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repeat (TIMEOUT_CYCLE) @(posedge 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$display("Timeout!");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$finish();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wave.fsdb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8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8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800" b="0" dirty="0">
                <a:effectLst/>
                <a:latin typeface="Consolas" panose="020B0609020204030204" pitchFamily="49" charset="0"/>
              </a:rPr>
            </a:br>
            <a:r>
              <a:rPr lang="en-US" altLang="ko-KR" sz="8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800" b="0" dirty="0">
              <a:effectLst/>
              <a:latin typeface="Consolas" panose="020B0609020204030204" pitchFamily="49" charset="0"/>
            </a:endParaRPr>
          </a:p>
          <a:p>
            <a:endParaRPr lang="en-US" altLang="ko-KR" sz="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48561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17B6-A745-922B-36EA-AD1F101A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81DF260-21CD-3E43-65D0-A41B005B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C79A8FC-F367-181A-D424-934A5EF2B6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423E39D-4E0D-C640-2339-F155B702BD7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E00C00-CA92-73E1-61EB-29FB889E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08347-38A9-43A2-D252-2C38219379BB}"/>
              </a:ext>
            </a:extLst>
          </p:cNvPr>
          <p:cNvSpPr txBox="1"/>
          <p:nvPr/>
        </p:nvSpPr>
        <p:spPr>
          <a:xfrm>
            <a:off x="2667000" y="3254289"/>
            <a:ext cx="7239000" cy="769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0" dirty="0">
                <a:effectLst/>
                <a:latin typeface="Consolas" panose="020B0609020204030204" pitchFamily="49" charset="0"/>
              </a:rPr>
              <a:t>We1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이 활성화되면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addr1 </a:t>
            </a:r>
            <a:r>
              <a:rPr lang="ko-KR" altLang="en-US" sz="1100" dirty="0">
                <a:latin typeface="Consolas" panose="020B0609020204030204" pitchFamily="49" charset="0"/>
              </a:rPr>
              <a:t>주소에 해당하는 메모리 위치에 </a:t>
            </a:r>
            <a:r>
              <a:rPr lang="en-US" altLang="ko-KR" sz="1100" dirty="0">
                <a:latin typeface="Consolas" panose="020B0609020204030204" pitchFamily="49" charset="0"/>
              </a:rPr>
              <a:t>data_in1 </a:t>
            </a:r>
            <a:r>
              <a:rPr lang="ko-KR" altLang="en-US" sz="1100" dirty="0">
                <a:latin typeface="Consolas" panose="020B0609020204030204" pitchFamily="49" charset="0"/>
              </a:rPr>
              <a:t>의 값을 쓰고 </a:t>
            </a:r>
            <a:r>
              <a:rPr lang="en-US" altLang="ko-KR" sz="1100" dirty="0">
                <a:latin typeface="Consolas" panose="020B0609020204030204" pitchFamily="49" charset="0"/>
              </a:rPr>
              <a:t>we2</a:t>
            </a:r>
            <a:r>
              <a:rPr lang="ko-KR" altLang="en-US" sz="1100" dirty="0">
                <a:latin typeface="Consolas" panose="020B0609020204030204" pitchFamily="49" charset="0"/>
              </a:rPr>
              <a:t>가 활성화되면 </a:t>
            </a:r>
            <a:r>
              <a:rPr lang="en-US" altLang="ko-KR" sz="1100" dirty="0">
                <a:latin typeface="Consolas" panose="020B0609020204030204" pitchFamily="49" charset="0"/>
              </a:rPr>
              <a:t>addr2</a:t>
            </a:r>
            <a:r>
              <a:rPr lang="ko-KR" altLang="en-US" sz="1100" dirty="0">
                <a:latin typeface="Consolas" panose="020B0609020204030204" pitchFamily="49" charset="0"/>
              </a:rPr>
              <a:t>주소에 </a:t>
            </a:r>
            <a:r>
              <a:rPr lang="en-US" altLang="ko-KR" sz="1100" dirty="0">
                <a:latin typeface="Consolas" panose="020B0609020204030204" pitchFamily="49" charset="0"/>
              </a:rPr>
              <a:t>data_in2</a:t>
            </a:r>
            <a:r>
              <a:rPr lang="ko-KR" altLang="en-US" sz="1100" dirty="0">
                <a:latin typeface="Consolas" panose="020B0609020204030204" pitchFamily="49" charset="0"/>
              </a:rPr>
              <a:t>의 값을 씀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r>
              <a:rPr lang="ko-KR" altLang="en-US" sz="1100" b="0" dirty="0">
                <a:effectLst/>
                <a:latin typeface="Consolas" panose="020B0609020204030204" pitchFamily="49" charset="0"/>
              </a:rPr>
              <a:t>읽기동작은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clk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마다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addr1,addr2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주소의 값을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data_reg1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과 </a:t>
            </a:r>
            <a:r>
              <a:rPr lang="en-US" altLang="ko-KR" sz="1100" b="0" dirty="0">
                <a:effectLst/>
                <a:latin typeface="Consolas" panose="020B0609020204030204" pitchFamily="49" charset="0"/>
              </a:rPr>
              <a:t>data_reg2 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레지스터에 </a:t>
            </a:r>
            <a:r>
              <a:rPr lang="ko-KR" altLang="en-US" sz="1100" b="0" dirty="0" err="1">
                <a:effectLst/>
                <a:latin typeface="Consolas" panose="020B0609020204030204" pitchFamily="49" charset="0"/>
              </a:rPr>
              <a:t>저장후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effectLst/>
                <a:latin typeface="Consolas" panose="020B0609020204030204" pitchFamily="49" charset="0"/>
              </a:rPr>
              <a:t>data_out</a:t>
            </a:r>
            <a:r>
              <a:rPr lang="ko-KR" altLang="en-US" sz="1100" b="0" dirty="0">
                <a:effectLst/>
                <a:latin typeface="Consolas" panose="020B0609020204030204" pitchFamily="49" charset="0"/>
              </a:rPr>
              <a:t>을 통해 출력</a:t>
            </a:r>
            <a:endParaRPr lang="en-US" altLang="ko-KR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76BCB-2836-6CDF-33D1-0F8A6353ED6B}"/>
              </a:ext>
            </a:extLst>
          </p:cNvPr>
          <p:cNvSpPr txBox="1"/>
          <p:nvPr/>
        </p:nvSpPr>
        <p:spPr>
          <a:xfrm>
            <a:off x="4305300" y="409294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RTL 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15336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21BA-59CE-8D87-BE53-7BEEFB5E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3D484E9-81A2-6870-9919-9C87009B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F92B14C7-8860-A546-6653-D78CA13856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07.SYNC_RAM_DP_WBE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1990AFE-9B57-F624-492F-7E488C8D5F41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5E25D7-2E80-F384-F398-221C8006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94DF5-5E0F-3188-A962-80F6CD2E2319}"/>
              </a:ext>
            </a:extLst>
          </p:cNvPr>
          <p:cNvSpPr txBox="1"/>
          <p:nvPr/>
        </p:nvSpPr>
        <p:spPr>
          <a:xfrm>
            <a:off x="1066800" y="4419600"/>
            <a:ext cx="93718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byte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enable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통해서 출력 하는 데이터의 비트 수를 지정해주었다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Data_we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가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 </a:t>
            </a:r>
            <a:r>
              <a:rPr lang="ko-KR" altLang="en-US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일경우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읽기 동작을 하며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쓰기동작은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data_we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가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일 경우이다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Fetch_addr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신호는 바뀐다면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negedge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에서 값이 바뀌었을 경우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imem_inst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라는 신호에서 출력이 변하게 된다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32A5F2-083D-8695-785C-D4E6B5DA7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23" y="1828800"/>
            <a:ext cx="11529954" cy="21336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D8AF5EF-1AF0-8CE8-B4C9-5734C042ED90}"/>
              </a:ext>
            </a:extLst>
          </p:cNvPr>
          <p:cNvSpPr/>
          <p:nvPr/>
        </p:nvSpPr>
        <p:spPr>
          <a:xfrm>
            <a:off x="8000999" y="2035765"/>
            <a:ext cx="3859977" cy="177423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30284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C8EF-D2D2-83A7-C806-3DEFD472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4171EA8-F0FF-B0C1-539C-58988BDD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2F81B60-B9B2-B321-9210-3025B8D143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08.SYNC_RAM_DP_WBE_dualclk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067346B-21ED-211B-E89E-62F20EB0DF11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34669B4-5AA9-A4D3-3C89-6A1EB625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DD228-FB65-EE63-C2ED-AFDE794B5959}"/>
              </a:ext>
            </a:extLst>
          </p:cNvPr>
          <p:cNvSpPr txBox="1"/>
          <p:nvPr/>
        </p:nvSpPr>
        <p:spPr>
          <a:xfrm>
            <a:off x="1158927" y="1676400"/>
            <a:ext cx="4876800" cy="4339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module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dualport_mem_synch_rw_dualclk</a:t>
            </a:r>
            <a:endParaRPr lang="en-US" altLang="ko-KR" sz="6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#(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parameter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BYTE_WIDTH = 8,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ADDRESS_WIDTH = 12,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BYTES = 4,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DATA_WIDTH = BYTE_WIDTH * BYTES,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MIF_HEX = "",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MIF_BIN = ""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[ADDRESS_WIDTH-1:0] addr1,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[ADDRESS_WIDTH-1:0] addr2,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[BYTES-1:0] be1,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[BYTES-1:0] be2,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[DATA_WIDTH-1:0] data_in1, 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[DATA_WIDTH-1:0] data_in2, 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input we1, we2, clk1, clk2,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output [DATA_WIDTH-1:0] data_out1,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output [DATA_WIDTH-1:0] data_out2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localparam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DEPTH = 1 &lt;&lt; ADDRESS_WIDTH;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// model the RAM with two dimensional packed array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reg [BYTES-1:0][BYTE_WIDTH-1:0] mem[DEPTH-1:0];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reg [DATA_WIDTH-1:0] data_reg1;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reg [DATA_WIDTH-1:0] data_reg2;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integer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if (MIF_HEX != "")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$display("MIF_HEX_PASS");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$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readmemh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(MIF_HEX, mem);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else if (MIF_BIN != "")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$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readmemb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(MIF_BIN, mem);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else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$display("MIF_HEX_FAIL, 0 initialize");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for 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&lt; DEPTH;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+ 1)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    mem[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] = 0;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end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1F949-2FA7-EAEA-AB57-F31F9C50C45F}"/>
              </a:ext>
            </a:extLst>
          </p:cNvPr>
          <p:cNvSpPr txBox="1"/>
          <p:nvPr/>
        </p:nvSpPr>
        <p:spPr>
          <a:xfrm>
            <a:off x="4054527" y="6042749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RTL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09A57-AA02-48DD-EE20-D25044B9A1E5}"/>
              </a:ext>
            </a:extLst>
          </p:cNvPr>
          <p:cNvSpPr txBox="1"/>
          <p:nvPr/>
        </p:nvSpPr>
        <p:spPr>
          <a:xfrm>
            <a:off x="6067193" y="1507123"/>
            <a:ext cx="4191000" cy="45089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// port A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always@(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clk1)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if(we1)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 edit this code if using other than four bytes per word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if(be1[0]) mem[addr1][0] &lt;= data_in1[7:0];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if(be1[1]) mem[addr1][1] &lt;= data_in1[15:8];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if(be1[2]) mem[addr1][2] &lt;= data_in1[23:16];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if(be1[3]) mem[addr1][3] &lt;= data_in1[31:24];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 port B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always@(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posedge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clk2)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if(we2)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 edit this code if using other than four bytes per word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if(be2[0]) mem[addr2][0] &lt;= data_in2[7:0];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if(be2[1]) mem[addr2][1] &lt;= data_in2[15:8];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if(be2[2]) mem[addr2][2] &lt;= data_in2[23:16];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    if(be2[3]) mem[addr2][3] &lt;= data_in2[31:24];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 assign data_reg1 = mem[addr1];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// assign data_reg2 = mem[addr2];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@(posedge clk1)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data_reg1 &lt;= mem[addr1];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@(posedge clk2)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data_reg2 &lt;= mem[addr2];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assign data_out1 = data_reg1;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assign data_out2 = data_reg2;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7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87636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35FA0-BA2C-AE96-8EFF-77CF33A9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249483C-14DF-69DF-0CF9-B2E84508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191DD6FE-2EF6-D8E7-AD38-014DD9F6734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08.SYNC_RAM_DP_WBE_dualclk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B29CB94-D579-9692-556C-0EC896A07060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5618B7-3815-EF86-A21B-46882A57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B6CD3-8ECD-57A5-1109-D393AADF9176}"/>
              </a:ext>
            </a:extLst>
          </p:cNvPr>
          <p:cNvSpPr txBox="1"/>
          <p:nvPr/>
        </p:nvSpPr>
        <p:spPr>
          <a:xfrm>
            <a:off x="492256" y="1755755"/>
            <a:ext cx="3547222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`timescale 1ns/1ns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`include "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mem_path.vh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"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module testbench();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parameter DWIDTH = 32;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parameter AWIDTH = 12;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localparam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TIMEOUT_CYCLE = 100_000;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[11:0]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[11:0]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[3:0]  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[31:0]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reg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wire [31:0]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imem_inst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wire [31:0]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read_imem_data_mem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dualport_mem_synch_rw_dualclk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#(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.DATA_WIDTH (DWIDTH),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.ADDRESS_WIDTH (AWIDTH),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.MIF_HEX ("")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) mem (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.clk1      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.clk2      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.addr1    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.addr2    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.be1      (4'd0),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.be2      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.data_in1 (32'd0),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.data_in2 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.we1      (1'b0),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.we2        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.data_out1(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imem_inst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.data_out2(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read_imem_data_mem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);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#1;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readmemh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code.hex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", `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MEM_PATH.mem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, 0, 16384-1);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685D5-4920-F670-0EB5-711B0DA1B9CB}"/>
              </a:ext>
            </a:extLst>
          </p:cNvPr>
          <p:cNvSpPr txBox="1"/>
          <p:nvPr/>
        </p:nvSpPr>
        <p:spPr>
          <a:xfrm>
            <a:off x="7916475" y="561277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testbench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83AC4-6339-9FBE-03F1-6635FED5AAFD}"/>
              </a:ext>
            </a:extLst>
          </p:cNvPr>
          <p:cNvSpPr txBox="1"/>
          <p:nvPr/>
        </p:nvSpPr>
        <p:spPr>
          <a:xfrm>
            <a:off x="4021950" y="1753994"/>
            <a:ext cx="4191000" cy="40780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  initial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#(7)  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~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always #(12)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~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//IM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//DM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12'd0;                  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1'd0;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//IM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12'd5;                     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12'd10;                    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12'd20;                    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fetch_addr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12'd30;                    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//DM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7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12'd40;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4'b1111;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7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7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br>
              <a:rPr lang="en-US" altLang="ko-KR" sz="700" b="0" dirty="0">
                <a:effectLst/>
                <a:latin typeface="Consolas" panose="020B0609020204030204" pitchFamily="49" charset="0"/>
              </a:rPr>
            </a:br>
            <a:endParaRPr lang="en-US" altLang="ko-KR" sz="700" b="0" dirty="0">
              <a:effectLst/>
              <a:latin typeface="Consolas" panose="020B0609020204030204" pitchFamily="49" charset="0"/>
            </a:endParaRPr>
          </a:p>
          <a:p>
            <a:endParaRPr lang="en-US" altLang="ko-KR" sz="7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F368A-654B-CF1B-2C39-D5C98E9EF329}"/>
              </a:ext>
            </a:extLst>
          </p:cNvPr>
          <p:cNvSpPr txBox="1"/>
          <p:nvPr/>
        </p:nvSpPr>
        <p:spPr>
          <a:xfrm>
            <a:off x="8212950" y="1753994"/>
            <a:ext cx="3547222" cy="350865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@(negedge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1'b0;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@(negedge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data_addr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12'd20;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byte_enable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4'b0111;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write_data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32'hFFFFFFFF;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data_we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 = 1'b1;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// Put your testbench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// Example 10 cases</a:t>
            </a:r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repeat (2)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    @(negedge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clk_write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end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$finish;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#5 $display("////test start////");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#250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$finish;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initial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repeat (TIMEOUT_CYCLE) @(posedge 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clk_read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$display("Timeout!");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$finish();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initial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begin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fsdbDumpfile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wave.fsdb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    $</a:t>
            </a: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fsdbDumpvars</a:t>
            </a:r>
            <a:r>
              <a:rPr lang="en-US" altLang="ko-KR" sz="600" b="0" dirty="0">
                <a:effectLst/>
                <a:latin typeface="Consolas" panose="020B0609020204030204" pitchFamily="49" charset="0"/>
              </a:rPr>
              <a:t>(0);</a:t>
            </a:r>
          </a:p>
          <a:p>
            <a:r>
              <a:rPr lang="en-US" altLang="ko-KR" sz="600" b="0" dirty="0">
                <a:effectLst/>
                <a:latin typeface="Consolas" panose="020B0609020204030204" pitchFamily="49" charset="0"/>
              </a:rPr>
              <a:t>    end</a:t>
            </a:r>
          </a:p>
          <a:p>
            <a:br>
              <a:rPr lang="en-US" altLang="ko-KR" sz="600" b="0" dirty="0">
                <a:effectLst/>
                <a:latin typeface="Consolas" panose="020B0609020204030204" pitchFamily="49" charset="0"/>
              </a:rPr>
            </a:br>
            <a:r>
              <a:rPr lang="en-US" altLang="ko-KR" sz="600" b="0" dirty="0" err="1">
                <a:effectLst/>
                <a:latin typeface="Consolas" panose="020B0609020204030204" pitchFamily="49" charset="0"/>
              </a:rPr>
              <a:t>endmodule</a:t>
            </a:r>
            <a:endParaRPr lang="en-US" altLang="ko-KR" sz="6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71075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B06A-1104-7EE3-1312-297AFEAB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334C134-324F-68BF-3252-6F20567F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E8BA8B58-B511-9529-CA8B-20029BAE4DD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08.SYNC_RAM_DP_WBE_dualclk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0EC40AF4-2750-A4FA-CAD0-2E9A5548B622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9E0C2B-77D8-25E2-9C10-A8BB4D13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AC730-5656-A62B-96C2-BF70AE0FA054}"/>
              </a:ext>
            </a:extLst>
          </p:cNvPr>
          <p:cNvSpPr txBox="1"/>
          <p:nvPr/>
        </p:nvSpPr>
        <p:spPr>
          <a:xfrm>
            <a:off x="2667000" y="3254289"/>
            <a:ext cx="7239000" cy="6001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이 코드는 두개의 클럭으로 동작하는 </a:t>
            </a:r>
            <a:r>
              <a:rPr lang="en-US" altLang="ko-KR" sz="1100" dirty="0">
                <a:latin typeface="Consolas" panose="020B0609020204030204" pitchFamily="49" charset="0"/>
              </a:rPr>
              <a:t>Dual port ram </a:t>
            </a:r>
            <a:r>
              <a:rPr lang="ko-KR" altLang="en-US" sz="1100" dirty="0">
                <a:latin typeface="Consolas" panose="020B0609020204030204" pitchFamily="49" charset="0"/>
              </a:rPr>
              <a:t>이다</a:t>
            </a:r>
            <a:r>
              <a:rPr lang="en-US" altLang="ko-KR" sz="1100" dirty="0">
                <a:latin typeface="Consolas" panose="020B0609020204030204" pitchFamily="49" charset="0"/>
              </a:rPr>
              <a:t>. Byte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latin typeface="Consolas" panose="020B0609020204030204" pitchFamily="49" charset="0"/>
              </a:rPr>
              <a:t>enable </a:t>
            </a:r>
            <a:r>
              <a:rPr lang="ko-KR" altLang="en-US" sz="1100" dirty="0">
                <a:latin typeface="Consolas" panose="020B0609020204030204" pitchFamily="49" charset="0"/>
              </a:rPr>
              <a:t>을 통해서 메모리에 입력할 데이터의 범위를 정할 수 있다</a:t>
            </a:r>
            <a:r>
              <a:rPr lang="en-US" altLang="ko-KR" sz="1100" dirty="0"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latin typeface="Consolas" panose="020B0609020204030204" pitchFamily="49" charset="0"/>
              </a:rPr>
              <a:t>테스트 벤치에선 </a:t>
            </a:r>
            <a:r>
              <a:rPr lang="en-US" altLang="ko-KR" sz="1100" dirty="0" err="1">
                <a:latin typeface="Consolas" panose="020B0609020204030204" pitchFamily="49" charset="0"/>
              </a:rPr>
              <a:t>clk_read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>
                <a:latin typeface="Consolas" panose="020B0609020204030204" pitchFamily="49" charset="0"/>
              </a:rPr>
              <a:t>와 </a:t>
            </a:r>
            <a:r>
              <a:rPr lang="en-US" altLang="ko-KR" sz="1100" dirty="0" err="1">
                <a:latin typeface="Consolas" panose="020B0609020204030204" pitchFamily="49" charset="0"/>
              </a:rPr>
              <a:t>clk_write</a:t>
            </a:r>
            <a:r>
              <a:rPr lang="ko-KR" altLang="en-US" sz="1100" dirty="0">
                <a:latin typeface="Consolas" panose="020B0609020204030204" pitchFamily="49" charset="0"/>
              </a:rPr>
              <a:t>로 구분하여 두 클럭이 쓰기와 읽기를 따로 구분하게 만들었다</a:t>
            </a:r>
            <a:r>
              <a:rPr lang="en-US" altLang="ko-KR" sz="1100" dirty="0">
                <a:latin typeface="Consolas" panose="020B0609020204030204" pitchFamily="49" charset="0"/>
              </a:rPr>
              <a:t>.</a:t>
            </a:r>
            <a:endParaRPr lang="en-US" altLang="ko-KR" sz="11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4EC6F-16A6-14CB-AEF2-312755C6ECC4}"/>
              </a:ext>
            </a:extLst>
          </p:cNvPr>
          <p:cNvSpPr txBox="1"/>
          <p:nvPr/>
        </p:nvSpPr>
        <p:spPr>
          <a:xfrm>
            <a:off x="4305300" y="409294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58643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820E3-9BEE-E4B7-A468-71930B8E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FF648F1-0E0B-4E9B-3494-627261BB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9516B871-7EE9-2A84-5D69-D859A2CF76C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08.SYNC_RAM_DP_WBE_dualclk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28B8D27-97EF-7C9C-321C-0CCDAC24133E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3C259E-F155-3315-633C-D48E5800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A50F2-6E53-A752-48B3-7503E9CB56D6}"/>
              </a:ext>
            </a:extLst>
          </p:cNvPr>
          <p:cNvSpPr txBox="1"/>
          <p:nvPr/>
        </p:nvSpPr>
        <p:spPr>
          <a:xfrm>
            <a:off x="1066800" y="4419600"/>
            <a:ext cx="937181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clk_read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의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negedge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fetch_addr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변화시켜 메모리에서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데이터를 읽어오고 있디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.(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imem_inst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Data_we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값이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되니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byte_enable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영향을 받은 데이터를 메모리에 써주고 있디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.(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read_imem_data_mem</a:t>
            </a:r>
            <a:r>
              <a:rPr lang="en-US" altLang="ko-KR" sz="140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8BC6E8-562C-4FB7-48F4-92FD3080A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24" y="2091227"/>
            <a:ext cx="11529954" cy="172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4120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5516</TotalTime>
  <Words>9302</Words>
  <Application>Microsoft Office PowerPoint</Application>
  <PresentationFormat>와이드스크린</PresentationFormat>
  <Paragraphs>1126</Paragraphs>
  <Slides>37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굴림</vt:lpstr>
      <vt:lpstr>맑은 고딕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Jungwoo choi Sangmyung University jw010803@gmail.com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정우 최</cp:lastModifiedBy>
  <cp:revision>1056</cp:revision>
  <dcterms:created xsi:type="dcterms:W3CDTF">2013-05-12T07:12:15Z</dcterms:created>
  <dcterms:modified xsi:type="dcterms:W3CDTF">2024-10-18T13:38:39Z</dcterms:modified>
</cp:coreProperties>
</file>